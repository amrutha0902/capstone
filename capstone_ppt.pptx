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sldIdLst>
    <p:sldId id="256" r:id="rId2"/>
    <p:sldId id="257" r:id="rId3"/>
    <p:sldId id="258" r:id="rId4"/>
    <p:sldId id="260" r:id="rId5"/>
    <p:sldId id="262" r:id="rId6"/>
    <p:sldId id="264" r:id="rId7"/>
    <p:sldId id="263" r:id="rId8"/>
    <p:sldId id="275" r:id="rId9"/>
    <p:sldId id="267" r:id="rId10"/>
    <p:sldId id="268" r:id="rId11"/>
    <p:sldId id="269" r:id="rId12"/>
    <p:sldId id="281" r:id="rId13"/>
    <p:sldId id="276" r:id="rId14"/>
    <p:sldId id="277" r:id="rId15"/>
    <p:sldId id="278" r:id="rId16"/>
    <p:sldId id="279" r:id="rId17"/>
    <p:sldId id="280" r:id="rId18"/>
    <p:sldId id="271" r:id="rId19"/>
    <p:sldId id="272"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7" autoAdjust="0"/>
    <p:restoredTop sz="86405" autoAdjust="0"/>
  </p:normalViewPr>
  <p:slideViewPr>
    <p:cSldViewPr snapToGrid="0">
      <p:cViewPr varScale="1">
        <p:scale>
          <a:sx n="71" d="100"/>
          <a:sy n="71" d="100"/>
        </p:scale>
        <p:origin x="235" y="58"/>
      </p:cViewPr>
      <p:guideLst/>
    </p:cSldViewPr>
  </p:slideViewPr>
  <p:outlineViewPr>
    <p:cViewPr>
      <p:scale>
        <a:sx n="33" d="100"/>
        <a:sy n="33" d="100"/>
      </p:scale>
      <p:origin x="0" y="-639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617EA4-F183-4FC2-8C3C-83DF92940F0D}" type="datetimeFigureOut">
              <a:rPr lang="en-IN" smtClean="0"/>
              <a:t>09-11-2025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2BA578-4699-4298-B5CE-85793A8DF517}" type="slidenum">
              <a:rPr lang="en-IN" smtClean="0"/>
              <a:t>‹#›</a:t>
            </a:fld>
            <a:endParaRPr lang="en-IN"/>
          </a:p>
        </p:txBody>
      </p:sp>
    </p:spTree>
    <p:extLst>
      <p:ext uri="{BB962C8B-B14F-4D97-AF65-F5344CB8AC3E}">
        <p14:creationId xmlns:p14="http://schemas.microsoft.com/office/powerpoint/2010/main" val="1401404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617EA4-F183-4FC2-8C3C-83DF92940F0D}" type="datetimeFigureOut">
              <a:rPr lang="en-IN" smtClean="0"/>
              <a:t>09-11-2025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2BA578-4699-4298-B5CE-85793A8DF517}" type="slidenum">
              <a:rPr lang="en-IN" smtClean="0"/>
              <a:t>‹#›</a:t>
            </a:fld>
            <a:endParaRPr lang="en-IN"/>
          </a:p>
        </p:txBody>
      </p:sp>
    </p:spTree>
    <p:extLst>
      <p:ext uri="{BB962C8B-B14F-4D97-AF65-F5344CB8AC3E}">
        <p14:creationId xmlns:p14="http://schemas.microsoft.com/office/powerpoint/2010/main" val="617300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617EA4-F183-4FC2-8C3C-83DF92940F0D}" type="datetimeFigureOut">
              <a:rPr lang="en-IN" smtClean="0"/>
              <a:t>09-11-2025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2BA578-4699-4298-B5CE-85793A8DF517}" type="slidenum">
              <a:rPr lang="en-IN" smtClean="0"/>
              <a:t>‹#›</a:t>
            </a:fld>
            <a:endParaRPr lang="en-IN"/>
          </a:p>
        </p:txBody>
      </p:sp>
    </p:spTree>
    <p:extLst>
      <p:ext uri="{BB962C8B-B14F-4D97-AF65-F5344CB8AC3E}">
        <p14:creationId xmlns:p14="http://schemas.microsoft.com/office/powerpoint/2010/main" val="2332193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617EA4-F183-4FC2-8C3C-83DF92940F0D}" type="datetimeFigureOut">
              <a:rPr lang="en-IN" smtClean="0"/>
              <a:t>09-11-2025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2BA578-4699-4298-B5CE-85793A8DF517}" type="slidenum">
              <a:rPr lang="en-IN" smtClean="0"/>
              <a:t>‹#›</a:t>
            </a:fld>
            <a:endParaRPr lang="en-IN"/>
          </a:p>
        </p:txBody>
      </p:sp>
    </p:spTree>
    <p:extLst>
      <p:ext uri="{BB962C8B-B14F-4D97-AF65-F5344CB8AC3E}">
        <p14:creationId xmlns:p14="http://schemas.microsoft.com/office/powerpoint/2010/main" val="3635519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617EA4-F183-4FC2-8C3C-83DF92940F0D}" type="datetimeFigureOut">
              <a:rPr lang="en-IN" smtClean="0"/>
              <a:t>09-11-2025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2BA578-4699-4298-B5CE-85793A8DF517}" type="slidenum">
              <a:rPr lang="en-IN" smtClean="0"/>
              <a:t>‹#›</a:t>
            </a:fld>
            <a:endParaRPr lang="en-IN"/>
          </a:p>
        </p:txBody>
      </p:sp>
    </p:spTree>
    <p:extLst>
      <p:ext uri="{BB962C8B-B14F-4D97-AF65-F5344CB8AC3E}">
        <p14:creationId xmlns:p14="http://schemas.microsoft.com/office/powerpoint/2010/main" val="4052688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617EA4-F183-4FC2-8C3C-83DF92940F0D}" type="datetimeFigureOut">
              <a:rPr lang="en-IN" smtClean="0"/>
              <a:t>09-11-2025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2BA578-4699-4298-B5CE-85793A8DF517}" type="slidenum">
              <a:rPr lang="en-IN" smtClean="0"/>
              <a:t>‹#›</a:t>
            </a:fld>
            <a:endParaRPr lang="en-IN"/>
          </a:p>
        </p:txBody>
      </p:sp>
    </p:spTree>
    <p:extLst>
      <p:ext uri="{BB962C8B-B14F-4D97-AF65-F5344CB8AC3E}">
        <p14:creationId xmlns:p14="http://schemas.microsoft.com/office/powerpoint/2010/main" val="507320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617EA4-F183-4FC2-8C3C-83DF92940F0D}" type="datetimeFigureOut">
              <a:rPr lang="en-IN" smtClean="0"/>
              <a:t>09-11-2025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22BA578-4699-4298-B5CE-85793A8DF517}" type="slidenum">
              <a:rPr lang="en-IN" smtClean="0"/>
              <a:t>‹#›</a:t>
            </a:fld>
            <a:endParaRPr lang="en-IN"/>
          </a:p>
        </p:txBody>
      </p:sp>
    </p:spTree>
    <p:extLst>
      <p:ext uri="{BB962C8B-B14F-4D97-AF65-F5344CB8AC3E}">
        <p14:creationId xmlns:p14="http://schemas.microsoft.com/office/powerpoint/2010/main" val="2358917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617EA4-F183-4FC2-8C3C-83DF92940F0D}" type="datetimeFigureOut">
              <a:rPr lang="en-IN" smtClean="0"/>
              <a:t>09-11-2025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2BA578-4699-4298-B5CE-85793A8DF517}" type="slidenum">
              <a:rPr lang="en-IN" smtClean="0"/>
              <a:t>‹#›</a:t>
            </a:fld>
            <a:endParaRPr lang="en-IN"/>
          </a:p>
        </p:txBody>
      </p:sp>
    </p:spTree>
    <p:extLst>
      <p:ext uri="{BB962C8B-B14F-4D97-AF65-F5344CB8AC3E}">
        <p14:creationId xmlns:p14="http://schemas.microsoft.com/office/powerpoint/2010/main" val="1738537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2BA578-4699-4298-B5CE-85793A8DF517}" type="slidenum">
              <a:rPr lang="en-IN" smtClean="0"/>
              <a:t>‹#›</a:t>
            </a:fld>
            <a:endParaRPr lang="en-IN"/>
          </a:p>
        </p:txBody>
      </p:sp>
      <p:sp>
        <p:nvSpPr>
          <p:cNvPr id="5" name="Date Placeholder 4"/>
          <p:cNvSpPr>
            <a:spLocks noGrp="1"/>
          </p:cNvSpPr>
          <p:nvPr>
            <p:ph type="dt" sz="half" idx="10"/>
          </p:nvPr>
        </p:nvSpPr>
        <p:spPr/>
        <p:txBody>
          <a:bodyPr/>
          <a:lstStyle/>
          <a:p>
            <a:fld id="{B9617EA4-F183-4FC2-8C3C-83DF92940F0D}" type="datetimeFigureOut">
              <a:rPr lang="en-IN" smtClean="0"/>
              <a:t>09-11-2025</a:t>
            </a:fld>
            <a:endParaRPr lang="en-IN"/>
          </a:p>
        </p:txBody>
      </p:sp>
    </p:spTree>
    <p:extLst>
      <p:ext uri="{BB962C8B-B14F-4D97-AF65-F5344CB8AC3E}">
        <p14:creationId xmlns:p14="http://schemas.microsoft.com/office/powerpoint/2010/main" val="1252653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617EA4-F183-4FC2-8C3C-83DF92940F0D}" type="datetimeFigureOut">
              <a:rPr lang="en-IN" smtClean="0"/>
              <a:t>09-11-2025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2BA578-4699-4298-B5CE-85793A8DF517}" type="slidenum">
              <a:rPr lang="en-IN" smtClean="0"/>
              <a:t>‹#›</a:t>
            </a:fld>
            <a:endParaRPr lang="en-IN"/>
          </a:p>
        </p:txBody>
      </p:sp>
    </p:spTree>
    <p:extLst>
      <p:ext uri="{BB962C8B-B14F-4D97-AF65-F5344CB8AC3E}">
        <p14:creationId xmlns:p14="http://schemas.microsoft.com/office/powerpoint/2010/main" val="2554057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617EA4-F183-4FC2-8C3C-83DF92940F0D}" type="datetimeFigureOut">
              <a:rPr lang="en-IN" smtClean="0"/>
              <a:t>09-11-2025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2BA578-4699-4298-B5CE-85793A8DF517}"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046918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617EA4-F183-4FC2-8C3C-83DF92940F0D}" type="datetimeFigureOut">
              <a:rPr lang="en-IN" smtClean="0"/>
              <a:t>09-11-2025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2BA578-4699-4298-B5CE-85793A8DF517}" type="slidenum">
              <a:rPr lang="en-IN" smtClean="0"/>
              <a:t>‹#›</a:t>
            </a:fld>
            <a:endParaRPr lang="en-IN"/>
          </a:p>
        </p:txBody>
      </p:sp>
    </p:spTree>
    <p:extLst>
      <p:ext uri="{BB962C8B-B14F-4D97-AF65-F5344CB8AC3E}">
        <p14:creationId xmlns:p14="http://schemas.microsoft.com/office/powerpoint/2010/main" val="40459173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617EA4-F183-4FC2-8C3C-83DF92940F0D}" type="datetimeFigureOut">
              <a:rPr lang="en-IN" smtClean="0"/>
              <a:t>09-11-2025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2BA578-4699-4298-B5CE-85793A8DF517}"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19011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617EA4-F183-4FC2-8C3C-83DF92940F0D}" type="datetimeFigureOut">
              <a:rPr lang="en-IN" smtClean="0"/>
              <a:t>09-11-2025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2BA578-4699-4298-B5CE-85793A8DF517}" type="slidenum">
              <a:rPr lang="en-IN" smtClean="0"/>
              <a:t>‹#›</a:t>
            </a:fld>
            <a:endParaRPr lang="en-IN"/>
          </a:p>
        </p:txBody>
      </p:sp>
    </p:spTree>
    <p:extLst>
      <p:ext uri="{BB962C8B-B14F-4D97-AF65-F5344CB8AC3E}">
        <p14:creationId xmlns:p14="http://schemas.microsoft.com/office/powerpoint/2010/main" val="25409272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617EA4-F183-4FC2-8C3C-83DF92940F0D}" type="datetimeFigureOut">
              <a:rPr lang="en-IN" smtClean="0"/>
              <a:t>09-11-2025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2BA578-4699-4298-B5CE-85793A8DF517}" type="slidenum">
              <a:rPr lang="en-IN" smtClean="0"/>
              <a:t>‹#›</a:t>
            </a:fld>
            <a:endParaRPr lang="en-IN"/>
          </a:p>
        </p:txBody>
      </p:sp>
    </p:spTree>
    <p:extLst>
      <p:ext uri="{BB962C8B-B14F-4D97-AF65-F5344CB8AC3E}">
        <p14:creationId xmlns:p14="http://schemas.microsoft.com/office/powerpoint/2010/main" val="17696219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617EA4-F183-4FC2-8C3C-83DF92940F0D}" type="datetimeFigureOut">
              <a:rPr lang="en-IN" smtClean="0"/>
              <a:t>09-11-2025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2BA578-4699-4298-B5CE-85793A8DF517}" type="slidenum">
              <a:rPr lang="en-IN" smtClean="0"/>
              <a:t>‹#›</a:t>
            </a:fld>
            <a:endParaRPr lang="en-IN"/>
          </a:p>
        </p:txBody>
      </p:sp>
    </p:spTree>
    <p:extLst>
      <p:ext uri="{BB962C8B-B14F-4D97-AF65-F5344CB8AC3E}">
        <p14:creationId xmlns:p14="http://schemas.microsoft.com/office/powerpoint/2010/main" val="1455566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9617EA4-F183-4FC2-8C3C-83DF92940F0D}" type="datetimeFigureOut">
              <a:rPr lang="en-IN" smtClean="0"/>
              <a:t>09-11-2025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22BA578-4699-4298-B5CE-85793A8DF517}" type="slidenum">
              <a:rPr lang="en-IN" smtClean="0"/>
              <a:t>‹#›</a:t>
            </a:fld>
            <a:endParaRPr lang="en-IN"/>
          </a:p>
        </p:txBody>
      </p:sp>
    </p:spTree>
    <p:extLst>
      <p:ext uri="{BB962C8B-B14F-4D97-AF65-F5344CB8AC3E}">
        <p14:creationId xmlns:p14="http://schemas.microsoft.com/office/powerpoint/2010/main" val="3165280578"/>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B8255-05BB-D649-E2FF-1EB3BA3649EB}"/>
              </a:ext>
            </a:extLst>
          </p:cNvPr>
          <p:cNvSpPr>
            <a:spLocks noGrp="1"/>
          </p:cNvSpPr>
          <p:nvPr>
            <p:ph type="ctrTitle"/>
          </p:nvPr>
        </p:nvSpPr>
        <p:spPr>
          <a:xfrm>
            <a:off x="629266" y="774290"/>
            <a:ext cx="9055508" cy="2654710"/>
          </a:xfrm>
        </p:spPr>
        <p:txBody>
          <a:bodyPr/>
          <a:lstStyle/>
          <a:p>
            <a:pPr algn="ctr"/>
            <a:r>
              <a:rPr lang="en-US" sz="4000" dirty="0"/>
              <a:t>Alzheimer’s Disease Classification Using Deep Learning, Integrating with Explainable AI, and LLM</a:t>
            </a:r>
            <a:br>
              <a:rPr lang="en-US" sz="4800" dirty="0"/>
            </a:br>
            <a:endParaRPr lang="en-IN" sz="5000" dirty="0"/>
          </a:p>
        </p:txBody>
      </p:sp>
      <p:sp>
        <p:nvSpPr>
          <p:cNvPr id="3" name="Subtitle 2">
            <a:extLst>
              <a:ext uri="{FF2B5EF4-FFF2-40B4-BE49-F238E27FC236}">
                <a16:creationId xmlns:a16="http://schemas.microsoft.com/office/drawing/2014/main" id="{4A381312-E31C-A606-05CA-6EF02BD6DB2F}"/>
              </a:ext>
            </a:extLst>
          </p:cNvPr>
          <p:cNvSpPr>
            <a:spLocks noGrp="1"/>
          </p:cNvSpPr>
          <p:nvPr>
            <p:ph type="subTitle" idx="1"/>
          </p:nvPr>
        </p:nvSpPr>
        <p:spPr>
          <a:xfrm>
            <a:off x="858138" y="3215148"/>
            <a:ext cx="7853243" cy="2310581"/>
          </a:xfrm>
        </p:spPr>
        <p:txBody>
          <a:bodyPr>
            <a:normAutofit/>
          </a:bodyPr>
          <a:lstStyle/>
          <a:p>
            <a:pPr algn="l"/>
            <a:r>
              <a:rPr lang="en-US" sz="2800" b="1" u="sng" dirty="0">
                <a:solidFill>
                  <a:schemeClr val="tx2">
                    <a:lumMod val="50000"/>
                  </a:schemeClr>
                </a:solidFill>
              </a:rPr>
              <a:t>Team:</a:t>
            </a:r>
          </a:p>
          <a:p>
            <a:pPr algn="l"/>
            <a:r>
              <a:rPr lang="en-US" sz="2000" dirty="0">
                <a:solidFill>
                  <a:schemeClr val="tx2">
                    <a:lumMod val="50000"/>
                  </a:schemeClr>
                </a:solidFill>
              </a:rPr>
              <a:t>MANAM AMRUTHA VARSHINI(22BCE7782)</a:t>
            </a:r>
          </a:p>
          <a:p>
            <a:pPr algn="l"/>
            <a:r>
              <a:rPr lang="en-US" sz="2000" dirty="0">
                <a:solidFill>
                  <a:schemeClr val="tx2">
                    <a:lumMod val="50000"/>
                  </a:schemeClr>
                </a:solidFill>
              </a:rPr>
              <a:t>KODURI RENU SRI PRIYA(22BCE9362)</a:t>
            </a:r>
          </a:p>
          <a:p>
            <a:pPr algn="l"/>
            <a:r>
              <a:rPr lang="en-US" sz="2000" dirty="0">
                <a:solidFill>
                  <a:schemeClr val="tx2">
                    <a:lumMod val="50000"/>
                  </a:schemeClr>
                </a:solidFill>
              </a:rPr>
              <a:t>ARIBANDI PRIYATAM(22BCE7145)</a:t>
            </a:r>
          </a:p>
          <a:p>
            <a:pPr algn="l"/>
            <a:r>
              <a:rPr lang="en-US" sz="2000" dirty="0">
                <a:solidFill>
                  <a:schemeClr val="tx2">
                    <a:lumMod val="50000"/>
                  </a:schemeClr>
                </a:solidFill>
              </a:rPr>
              <a:t>KOTA VIJAY RAMA ROYAL(22BCE8713)</a:t>
            </a:r>
            <a:endParaRPr lang="en-IN" sz="2000" dirty="0">
              <a:solidFill>
                <a:schemeClr val="tx2">
                  <a:lumMod val="50000"/>
                </a:schemeClr>
              </a:solidFill>
            </a:endParaRPr>
          </a:p>
        </p:txBody>
      </p:sp>
    </p:spTree>
    <p:extLst>
      <p:ext uri="{BB962C8B-B14F-4D97-AF65-F5344CB8AC3E}">
        <p14:creationId xmlns:p14="http://schemas.microsoft.com/office/powerpoint/2010/main" val="4002154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3A9EA-06AE-21E2-DB37-666E1E5D2251}"/>
              </a:ext>
            </a:extLst>
          </p:cNvPr>
          <p:cNvSpPr>
            <a:spLocks noGrp="1"/>
          </p:cNvSpPr>
          <p:nvPr>
            <p:ph type="title"/>
          </p:nvPr>
        </p:nvSpPr>
        <p:spPr>
          <a:xfrm>
            <a:off x="677334" y="963561"/>
            <a:ext cx="8596668" cy="924231"/>
          </a:xfrm>
        </p:spPr>
        <p:txBody>
          <a:bodyPr>
            <a:normAutofit/>
          </a:bodyPr>
          <a:lstStyle/>
          <a:p>
            <a:r>
              <a:rPr lang="en-US" sz="4000" dirty="0"/>
              <a:t>Contents:</a:t>
            </a:r>
            <a:endParaRPr lang="en-IN" sz="4000" dirty="0"/>
          </a:p>
        </p:txBody>
      </p:sp>
      <p:sp>
        <p:nvSpPr>
          <p:cNvPr id="3" name="Content Placeholder 2">
            <a:extLst>
              <a:ext uri="{FF2B5EF4-FFF2-40B4-BE49-F238E27FC236}">
                <a16:creationId xmlns:a16="http://schemas.microsoft.com/office/drawing/2014/main" id="{35FFF50C-4385-C16D-B572-F3518FA251E2}"/>
              </a:ext>
            </a:extLst>
          </p:cNvPr>
          <p:cNvSpPr>
            <a:spLocks noGrp="1"/>
          </p:cNvSpPr>
          <p:nvPr>
            <p:ph idx="1"/>
          </p:nvPr>
        </p:nvSpPr>
        <p:spPr>
          <a:xfrm>
            <a:off x="677334" y="1887793"/>
            <a:ext cx="8596668" cy="4153569"/>
          </a:xfrm>
        </p:spPr>
        <p:txBody>
          <a:bodyPr>
            <a:normAutofit lnSpcReduction="10000"/>
          </a:bodyPr>
          <a:lstStyle/>
          <a:p>
            <a:r>
              <a:rPr lang="en-US" sz="2400" dirty="0"/>
              <a:t>1. Introduction</a:t>
            </a:r>
          </a:p>
          <a:p>
            <a:r>
              <a:rPr lang="en-US" sz="2400" dirty="0"/>
              <a:t>2. Motivation</a:t>
            </a:r>
          </a:p>
          <a:p>
            <a:r>
              <a:rPr lang="en-US" sz="2400" dirty="0"/>
              <a:t>3. Literature Survey</a:t>
            </a:r>
          </a:p>
          <a:p>
            <a:r>
              <a:rPr lang="en-US" sz="2400" dirty="0"/>
              <a:t>4.Gaps Identified</a:t>
            </a:r>
          </a:p>
          <a:p>
            <a:r>
              <a:rPr lang="en-US" sz="2400" dirty="0"/>
              <a:t>Problem Statement</a:t>
            </a:r>
          </a:p>
          <a:p>
            <a:r>
              <a:rPr lang="en-US" sz="2400" dirty="0"/>
              <a:t>5.Objectives</a:t>
            </a:r>
          </a:p>
          <a:p>
            <a:r>
              <a:rPr lang="en-US" sz="2400" dirty="0"/>
              <a:t>6.Proposed Solution</a:t>
            </a:r>
          </a:p>
          <a:p>
            <a:r>
              <a:rPr lang="en-US" sz="2400" dirty="0"/>
              <a:t>7.Result</a:t>
            </a:r>
          </a:p>
          <a:p>
            <a:r>
              <a:rPr lang="en-US" sz="2400" dirty="0"/>
              <a:t>8.Conclusion</a:t>
            </a:r>
            <a:endParaRPr lang="en-IN" sz="2400" dirty="0"/>
          </a:p>
        </p:txBody>
      </p:sp>
    </p:spTree>
    <p:extLst>
      <p:ext uri="{BB962C8B-B14F-4D97-AF65-F5344CB8AC3E}">
        <p14:creationId xmlns:p14="http://schemas.microsoft.com/office/powerpoint/2010/main" val="2746909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279FB-4370-BBF5-7761-896AB39ABC9B}"/>
              </a:ext>
            </a:extLst>
          </p:cNvPr>
          <p:cNvSpPr>
            <a:spLocks noGrp="1"/>
          </p:cNvSpPr>
          <p:nvPr>
            <p:ph type="title"/>
          </p:nvPr>
        </p:nvSpPr>
        <p:spPr>
          <a:xfrm>
            <a:off x="677334" y="609600"/>
            <a:ext cx="8596668" cy="934065"/>
          </a:xfrm>
        </p:spPr>
        <p:txBody>
          <a:bodyPr>
            <a:normAutofit/>
          </a:bodyPr>
          <a:lstStyle/>
          <a:p>
            <a:r>
              <a:rPr lang="en-US" sz="4000" dirty="0"/>
              <a:t>Introduction</a:t>
            </a:r>
            <a:endParaRPr lang="en-IN" sz="4000" dirty="0"/>
          </a:p>
        </p:txBody>
      </p:sp>
      <p:sp>
        <p:nvSpPr>
          <p:cNvPr id="3" name="Content Placeholder 2">
            <a:extLst>
              <a:ext uri="{FF2B5EF4-FFF2-40B4-BE49-F238E27FC236}">
                <a16:creationId xmlns:a16="http://schemas.microsoft.com/office/drawing/2014/main" id="{1F0174AB-F574-6891-FB03-E567F9BCF3CF}"/>
              </a:ext>
            </a:extLst>
          </p:cNvPr>
          <p:cNvSpPr>
            <a:spLocks noGrp="1"/>
          </p:cNvSpPr>
          <p:nvPr>
            <p:ph idx="1"/>
          </p:nvPr>
        </p:nvSpPr>
        <p:spPr>
          <a:xfrm>
            <a:off x="677334" y="1750924"/>
            <a:ext cx="8596668" cy="3376247"/>
          </a:xfrm>
        </p:spPr>
        <p:txBody>
          <a:bodyPr>
            <a:noAutofit/>
          </a:bodyPr>
          <a:lstStyle/>
          <a:p>
            <a:pPr algn="just"/>
            <a:r>
              <a:rPr lang="en-US" sz="2000" dirty="0"/>
              <a:t>Alzheimer’s disease is a </a:t>
            </a:r>
            <a:r>
              <a:rPr lang="en-US" sz="2000" i="1" dirty="0"/>
              <a:t>progressive neurodegenerative disorder</a:t>
            </a:r>
            <a:r>
              <a:rPr lang="en-US" sz="2000" dirty="0"/>
              <a:t> that causes memory loss and cognitive decline, with MRI scans revealing key structural brain changes.</a:t>
            </a:r>
          </a:p>
          <a:p>
            <a:pPr algn="just"/>
            <a:r>
              <a:rPr lang="en-US" sz="2000" dirty="0"/>
              <a:t>Manual MRI Interpretation is time consuming , expertise-dependent and prone to human error , making early detection and large scale screening difficult.</a:t>
            </a:r>
          </a:p>
          <a:p>
            <a:pPr algn="just"/>
            <a:r>
              <a:rPr lang="en-IN" sz="2000" dirty="0"/>
              <a:t>This project develops an AI-based Alzheimer’s Disease Classification using Convolutional Neural Networks (CNNs) to automatically classify stages into </a:t>
            </a:r>
            <a:r>
              <a:rPr lang="en-IN" sz="2000" i="1" dirty="0"/>
              <a:t>Non-Demented, Very Mild Demented, Mild Demented,</a:t>
            </a:r>
            <a:r>
              <a:rPr lang="en-IN" sz="2000" dirty="0"/>
              <a:t> and </a:t>
            </a:r>
            <a:r>
              <a:rPr lang="en-IN" sz="2000" i="1" dirty="0"/>
              <a:t>Moderate Demented</a:t>
            </a:r>
            <a:r>
              <a:rPr lang="en-US" sz="2000" dirty="0"/>
              <a:t>.</a:t>
            </a:r>
          </a:p>
          <a:p>
            <a:pPr algn="just"/>
            <a:r>
              <a:rPr lang="en-US" sz="2000" dirty="0"/>
              <a:t>This integrates Explainable AI (XAI)</a:t>
            </a:r>
            <a:r>
              <a:rPr lang="en-US" sz="2000" b="1" dirty="0"/>
              <a:t>,</a:t>
            </a:r>
            <a:r>
              <a:rPr lang="en-US" sz="2000" dirty="0"/>
              <a:t> and LLM-based explanations to deliver high accuracy, interpretability</a:t>
            </a:r>
            <a:r>
              <a:rPr lang="en-US" sz="2000" b="1" dirty="0"/>
              <a:t>,</a:t>
            </a:r>
            <a:r>
              <a:rPr lang="en-US" sz="2000" dirty="0"/>
              <a:t> and trustworthy insights for AI-assisted diagnosis and research.</a:t>
            </a:r>
          </a:p>
        </p:txBody>
      </p:sp>
    </p:spTree>
    <p:extLst>
      <p:ext uri="{BB962C8B-B14F-4D97-AF65-F5344CB8AC3E}">
        <p14:creationId xmlns:p14="http://schemas.microsoft.com/office/powerpoint/2010/main" val="3416023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C9A1C-7418-BBBB-CCFB-1E0D0E301635}"/>
              </a:ext>
            </a:extLst>
          </p:cNvPr>
          <p:cNvSpPr>
            <a:spLocks noGrp="1"/>
          </p:cNvSpPr>
          <p:nvPr>
            <p:ph type="title"/>
          </p:nvPr>
        </p:nvSpPr>
        <p:spPr>
          <a:xfrm>
            <a:off x="755993" y="786580"/>
            <a:ext cx="8596668" cy="924232"/>
          </a:xfrm>
        </p:spPr>
        <p:txBody>
          <a:bodyPr>
            <a:normAutofit/>
          </a:bodyPr>
          <a:lstStyle/>
          <a:p>
            <a:r>
              <a:rPr lang="en-US" sz="4000" dirty="0"/>
              <a:t>Motivation</a:t>
            </a:r>
            <a:endParaRPr lang="en-IN" sz="4000" dirty="0"/>
          </a:p>
        </p:txBody>
      </p:sp>
      <p:sp>
        <p:nvSpPr>
          <p:cNvPr id="3" name="Content Placeholder 2">
            <a:extLst>
              <a:ext uri="{FF2B5EF4-FFF2-40B4-BE49-F238E27FC236}">
                <a16:creationId xmlns:a16="http://schemas.microsoft.com/office/drawing/2014/main" id="{03407CF9-7124-299C-95B0-37CC5BFE8E13}"/>
              </a:ext>
            </a:extLst>
          </p:cNvPr>
          <p:cNvSpPr>
            <a:spLocks noGrp="1"/>
          </p:cNvSpPr>
          <p:nvPr>
            <p:ph idx="1"/>
          </p:nvPr>
        </p:nvSpPr>
        <p:spPr>
          <a:xfrm>
            <a:off x="755994" y="1979525"/>
            <a:ext cx="6539110" cy="2572378"/>
          </a:xfrm>
        </p:spPr>
        <p:txBody>
          <a:bodyPr>
            <a:normAutofit/>
          </a:bodyPr>
          <a:lstStyle/>
          <a:p>
            <a:r>
              <a:rPr lang="en-US" sz="2400" b="1" dirty="0"/>
              <a:t>Rising Prevalence of Alzheimer’s Disease</a:t>
            </a:r>
          </a:p>
          <a:p>
            <a:r>
              <a:rPr lang="en-US" sz="2400" b="1" dirty="0"/>
              <a:t>Limitations of Manual MRI Analysis</a:t>
            </a:r>
          </a:p>
          <a:p>
            <a:r>
              <a:rPr lang="en-US" sz="2400" b="1" dirty="0"/>
              <a:t>Need for Automation and Precision</a:t>
            </a:r>
          </a:p>
          <a:p>
            <a:r>
              <a:rPr lang="en-US" sz="2400" b="1" dirty="0"/>
              <a:t>Advancements in AI and Explainability</a:t>
            </a:r>
          </a:p>
          <a:p>
            <a:r>
              <a:rPr lang="en-IN" sz="2400" b="1" dirty="0"/>
              <a:t>Contribution to Medical Innovation</a:t>
            </a:r>
            <a:endParaRPr lang="en-US" sz="2400" b="1" dirty="0"/>
          </a:p>
          <a:p>
            <a:endParaRPr lang="en-US" sz="2400" b="1" dirty="0"/>
          </a:p>
          <a:p>
            <a:endParaRPr lang="en-IN" dirty="0"/>
          </a:p>
        </p:txBody>
      </p:sp>
    </p:spTree>
    <p:extLst>
      <p:ext uri="{BB962C8B-B14F-4D97-AF65-F5344CB8AC3E}">
        <p14:creationId xmlns:p14="http://schemas.microsoft.com/office/powerpoint/2010/main" val="2076031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F9E6E-C5B9-5B4B-868A-C95CE6D7441A}"/>
              </a:ext>
            </a:extLst>
          </p:cNvPr>
          <p:cNvSpPr>
            <a:spLocks noGrp="1"/>
          </p:cNvSpPr>
          <p:nvPr>
            <p:ph type="title"/>
          </p:nvPr>
        </p:nvSpPr>
        <p:spPr/>
        <p:txBody>
          <a:bodyPr/>
          <a:lstStyle/>
          <a:p>
            <a:r>
              <a:rPr lang="en-US" dirty="0"/>
              <a:t>Literature Survey</a:t>
            </a:r>
            <a:endParaRPr lang="en-IN" dirty="0"/>
          </a:p>
        </p:txBody>
      </p:sp>
      <p:graphicFrame>
        <p:nvGraphicFramePr>
          <p:cNvPr id="4" name="Content Placeholder 3">
            <a:extLst>
              <a:ext uri="{FF2B5EF4-FFF2-40B4-BE49-F238E27FC236}">
                <a16:creationId xmlns:a16="http://schemas.microsoft.com/office/drawing/2014/main" id="{3D907987-930C-0464-88B9-09C97DF390B8}"/>
              </a:ext>
            </a:extLst>
          </p:cNvPr>
          <p:cNvGraphicFramePr>
            <a:graphicFrameLocks noGrp="1"/>
          </p:cNvGraphicFramePr>
          <p:nvPr>
            <p:ph idx="1"/>
            <p:extLst>
              <p:ext uri="{D42A27DB-BD31-4B8C-83A1-F6EECF244321}">
                <p14:modId xmlns:p14="http://schemas.microsoft.com/office/powerpoint/2010/main" val="4216985165"/>
              </p:ext>
            </p:extLst>
          </p:nvPr>
        </p:nvGraphicFramePr>
        <p:xfrm>
          <a:off x="693336" y="1465005"/>
          <a:ext cx="9891780" cy="4886635"/>
        </p:xfrm>
        <a:graphic>
          <a:graphicData uri="http://schemas.openxmlformats.org/drawingml/2006/table">
            <a:tbl>
              <a:tblPr firstRow="1" bandRow="1">
                <a:tableStyleId>{5C22544A-7EE6-4342-B048-85BDC9FD1C3A}</a:tableStyleId>
              </a:tblPr>
              <a:tblGrid>
                <a:gridCol w="700405">
                  <a:extLst>
                    <a:ext uri="{9D8B030D-6E8A-4147-A177-3AD203B41FA5}">
                      <a16:colId xmlns:a16="http://schemas.microsoft.com/office/drawing/2014/main" val="3576927633"/>
                    </a:ext>
                  </a:extLst>
                </a:gridCol>
                <a:gridCol w="2592603">
                  <a:extLst>
                    <a:ext uri="{9D8B030D-6E8A-4147-A177-3AD203B41FA5}">
                      <a16:colId xmlns:a16="http://schemas.microsoft.com/office/drawing/2014/main" val="2642146090"/>
                    </a:ext>
                  </a:extLst>
                </a:gridCol>
                <a:gridCol w="2586986">
                  <a:extLst>
                    <a:ext uri="{9D8B030D-6E8A-4147-A177-3AD203B41FA5}">
                      <a16:colId xmlns:a16="http://schemas.microsoft.com/office/drawing/2014/main" val="3978912779"/>
                    </a:ext>
                  </a:extLst>
                </a:gridCol>
                <a:gridCol w="2005893">
                  <a:extLst>
                    <a:ext uri="{9D8B030D-6E8A-4147-A177-3AD203B41FA5}">
                      <a16:colId xmlns:a16="http://schemas.microsoft.com/office/drawing/2014/main" val="427730927"/>
                    </a:ext>
                  </a:extLst>
                </a:gridCol>
                <a:gridCol w="2005893">
                  <a:extLst>
                    <a:ext uri="{9D8B030D-6E8A-4147-A177-3AD203B41FA5}">
                      <a16:colId xmlns:a16="http://schemas.microsoft.com/office/drawing/2014/main" val="2675266506"/>
                    </a:ext>
                  </a:extLst>
                </a:gridCol>
              </a:tblGrid>
              <a:tr h="465107">
                <a:tc>
                  <a:txBody>
                    <a:bodyPr/>
                    <a:lstStyle/>
                    <a:p>
                      <a:r>
                        <a:rPr lang="en-US" sz="1600" dirty="0"/>
                        <a:t>S.NO</a:t>
                      </a:r>
                      <a:endParaRPr lang="en-IN" sz="1600" dirty="0"/>
                    </a:p>
                  </a:txBody>
                  <a:tcPr/>
                </a:tc>
                <a:tc>
                  <a:txBody>
                    <a:bodyPr/>
                    <a:lstStyle/>
                    <a:p>
                      <a:r>
                        <a:rPr lang="en-US" sz="1600" dirty="0"/>
                        <a:t>TITLE</a:t>
                      </a:r>
                      <a:endParaRPr lang="en-IN" sz="1600" dirty="0"/>
                    </a:p>
                  </a:txBody>
                  <a:tcPr/>
                </a:tc>
                <a:tc>
                  <a:txBody>
                    <a:bodyPr/>
                    <a:lstStyle/>
                    <a:p>
                      <a:r>
                        <a:rPr lang="en-US" sz="1600" dirty="0"/>
                        <a:t>AIM</a:t>
                      </a:r>
                      <a:endParaRPr lang="en-IN" sz="1600" dirty="0"/>
                    </a:p>
                  </a:txBody>
                  <a:tcPr/>
                </a:tc>
                <a:tc>
                  <a:txBody>
                    <a:bodyPr/>
                    <a:lstStyle/>
                    <a:p>
                      <a:r>
                        <a:rPr lang="en-US" sz="1600" dirty="0"/>
                        <a:t>ADVANTAGES</a:t>
                      </a:r>
                      <a:endParaRPr lang="en-IN" sz="1600" dirty="0"/>
                    </a:p>
                  </a:txBody>
                  <a:tcPr/>
                </a:tc>
                <a:tc>
                  <a:txBody>
                    <a:bodyPr/>
                    <a:lstStyle/>
                    <a:p>
                      <a:r>
                        <a:rPr lang="en-US" sz="1600" dirty="0"/>
                        <a:t>DISADVANTAGES</a:t>
                      </a:r>
                      <a:endParaRPr lang="en-IN" sz="1600" dirty="0"/>
                    </a:p>
                  </a:txBody>
                  <a:tcPr/>
                </a:tc>
                <a:extLst>
                  <a:ext uri="{0D108BD9-81ED-4DB2-BD59-A6C34878D82A}">
                    <a16:rowId xmlns:a16="http://schemas.microsoft.com/office/drawing/2014/main" val="3933370133"/>
                  </a:ext>
                </a:extLst>
              </a:tr>
              <a:tr h="1602507">
                <a:tc>
                  <a:txBody>
                    <a:bodyPr/>
                    <a:lstStyle/>
                    <a:p>
                      <a:r>
                        <a:rPr lang="en-US" dirty="0"/>
                        <a:t>1.</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Classification of Alzheimer’s Disease Using Deep Convolutional Neural Networks (CNNs)</a:t>
                      </a:r>
                      <a:r>
                        <a:rPr lang="en-US" sz="1200" b="0" dirty="0"/>
                        <a:t> —</a:t>
                      </a:r>
                      <a:r>
                        <a:rPr lang="en-IN" sz="1200" dirty="0"/>
                        <a:t>Suk, H.-I., Lee, S.-W., Shen, D. (2017)</a:t>
                      </a:r>
                      <a:endParaRPr lang="en-IN" sz="1200" b="0" dirty="0"/>
                    </a:p>
                  </a:txBody>
                  <a:tcPr anchor="ctr"/>
                </a:tc>
                <a:tc>
                  <a:txBody>
                    <a:bodyPr/>
                    <a:lstStyle/>
                    <a:p>
                      <a:pPr algn="l"/>
                      <a:r>
                        <a:rPr lang="en-US" sz="1200" dirty="0"/>
                        <a:t>To develop a CNN-based model for classifying MRI brain scans into different stages of Alzheimer’s disease.</a:t>
                      </a:r>
                      <a:endParaRPr lang="en-IN" sz="1200" dirty="0"/>
                    </a:p>
                  </a:txBody>
                  <a:tcPr/>
                </a:tc>
                <a:tc>
                  <a:txBody>
                    <a:bodyPr/>
                    <a:lstStyle/>
                    <a:p>
                      <a:r>
                        <a:rPr lang="en-US" sz="1200" dirty="0"/>
                        <a:t>High classification accuracy; automatic feature extraction; minimal preprocessing.</a:t>
                      </a:r>
                      <a:endParaRPr lang="en-IN" sz="1200" dirty="0"/>
                    </a:p>
                  </a:txBody>
                  <a:tcPr/>
                </a:tc>
                <a:tc>
                  <a:txBody>
                    <a:bodyPr/>
                    <a:lstStyle/>
                    <a:p>
                      <a:r>
                        <a:rPr lang="en-US" sz="1200" dirty="0"/>
                        <a:t>Requires large labeled datasets; risk of overfitting with small data.</a:t>
                      </a:r>
                      <a:endParaRPr lang="en-IN" sz="1200" dirty="0"/>
                    </a:p>
                  </a:txBody>
                  <a:tcPr/>
                </a:tc>
                <a:extLst>
                  <a:ext uri="{0D108BD9-81ED-4DB2-BD59-A6C34878D82A}">
                    <a16:rowId xmlns:a16="http://schemas.microsoft.com/office/drawing/2014/main" val="4021576563"/>
                  </a:ext>
                </a:extLst>
              </a:tr>
              <a:tr h="1371493">
                <a:tc>
                  <a:txBody>
                    <a:bodyPr/>
                    <a:lstStyle/>
                    <a:p>
                      <a:r>
                        <a:rPr lang="en-US" dirty="0"/>
                        <a:t>2.</a:t>
                      </a:r>
                      <a:endParaRPr lang="en-IN" dirty="0"/>
                    </a:p>
                  </a:txBody>
                  <a:tcPr/>
                </a:tc>
                <a:tc>
                  <a:txBody>
                    <a:bodyPr/>
                    <a:lstStyle/>
                    <a:p>
                      <a:r>
                        <a:rPr lang="en-US" sz="1200" dirty="0"/>
                        <a:t>Alzheimer’s Disease Detection Using Transfer Learning with VGG16 </a:t>
                      </a:r>
                      <a:r>
                        <a:rPr lang="en-US" sz="1200" b="0" dirty="0"/>
                        <a:t>—</a:t>
                      </a:r>
                      <a:r>
                        <a:rPr lang="fr-FR" sz="1200" dirty="0"/>
                        <a:t>Islam, J., Zhang, Y. (2018)</a:t>
                      </a:r>
                      <a:endParaRPr lang="en-IN" sz="1200" b="0" dirty="0"/>
                    </a:p>
                  </a:txBody>
                  <a:tcPr/>
                </a:tc>
                <a:tc>
                  <a:txBody>
                    <a:bodyPr/>
                    <a:lstStyle/>
                    <a:p>
                      <a:r>
                        <a:rPr lang="en-US" sz="1200" dirty="0"/>
                        <a:t>To apply pre-trained VGG16 for MRI-based Alzheimer’s stage detection.</a:t>
                      </a:r>
                      <a:endParaRPr lang="en-IN" sz="1200" dirty="0"/>
                    </a:p>
                  </a:txBody>
                  <a:tcPr/>
                </a:tc>
                <a:tc>
                  <a:txBody>
                    <a:bodyPr/>
                    <a:lstStyle/>
                    <a:p>
                      <a:r>
                        <a:rPr lang="en-US" sz="1200" dirty="0"/>
                        <a:t>Faster convergence; leverages pretrained features; robust feature representation.</a:t>
                      </a:r>
                      <a:endParaRPr lang="en-IN" sz="1200" dirty="0"/>
                    </a:p>
                  </a:txBody>
                  <a:tcPr/>
                </a:tc>
                <a:tc>
                  <a:txBody>
                    <a:bodyPr/>
                    <a:lstStyle/>
                    <a:p>
                      <a:r>
                        <a:rPr lang="en-IN" sz="1200" dirty="0"/>
                        <a:t>High computational demand; domain adaptation challenges.</a:t>
                      </a:r>
                    </a:p>
                  </a:txBody>
                  <a:tcPr/>
                </a:tc>
                <a:extLst>
                  <a:ext uri="{0D108BD9-81ED-4DB2-BD59-A6C34878D82A}">
                    <a16:rowId xmlns:a16="http://schemas.microsoft.com/office/drawing/2014/main" val="1961762191"/>
                  </a:ext>
                </a:extLst>
              </a:tr>
              <a:tr h="1447528">
                <a:tc>
                  <a:txBody>
                    <a:bodyPr/>
                    <a:lstStyle/>
                    <a:p>
                      <a:r>
                        <a:rPr lang="en-US" dirty="0"/>
                        <a:t>3.</a:t>
                      </a:r>
                      <a:endParaRPr lang="en-IN" dirty="0"/>
                    </a:p>
                  </a:txBody>
                  <a:tcPr/>
                </a:tc>
                <a:tc>
                  <a:txBody>
                    <a:bodyPr/>
                    <a:lstStyle/>
                    <a:p>
                      <a:pPr>
                        <a:buNone/>
                      </a:pPr>
                      <a:r>
                        <a:rPr lang="en-US" sz="1200" dirty="0"/>
                        <a:t>Explainable Deep Learning for Medical Image Diagnosis Using Grad-CAM</a:t>
                      </a:r>
                      <a:r>
                        <a:rPr lang="en-US" sz="1200" b="0" dirty="0"/>
                        <a:t>—</a:t>
                      </a:r>
                      <a:r>
                        <a:rPr lang="en-IN" sz="1200" dirty="0"/>
                        <a:t>Selvaraju, R. R., Cogswell, M., Das, A. (2017)</a:t>
                      </a:r>
                    </a:p>
                  </a:txBody>
                  <a:tcPr anchor="ctr"/>
                </a:tc>
                <a:tc>
                  <a:txBody>
                    <a:bodyPr/>
                    <a:lstStyle/>
                    <a:p>
                      <a:r>
                        <a:rPr lang="en-US" sz="1200" dirty="0"/>
                        <a:t>To visualize CNN attention regions using Grad-CAM for interpretability in medical imaging.</a:t>
                      </a:r>
                      <a:endParaRPr lang="en-IN" sz="1200" dirty="0"/>
                    </a:p>
                  </a:txBody>
                  <a:tcPr/>
                </a:tc>
                <a:tc>
                  <a:txBody>
                    <a:bodyPr/>
                    <a:lstStyle/>
                    <a:p>
                      <a:r>
                        <a:rPr lang="en-US" sz="1200" dirty="0"/>
                        <a:t>Enhances transparency; aids clinical trust and understanding.</a:t>
                      </a:r>
                      <a:endParaRPr lang="en-IN" sz="1200" dirty="0"/>
                    </a:p>
                  </a:txBody>
                  <a:tcPr/>
                </a:tc>
                <a:tc>
                  <a:txBody>
                    <a:bodyPr/>
                    <a:lstStyle/>
                    <a:p>
                      <a:r>
                        <a:rPr lang="en-US" sz="1200" dirty="0"/>
                        <a:t>Provides coarse localization; lacks detailed region precision.</a:t>
                      </a:r>
                      <a:endParaRPr lang="en-IN" sz="1200" dirty="0"/>
                    </a:p>
                  </a:txBody>
                  <a:tcPr/>
                </a:tc>
                <a:extLst>
                  <a:ext uri="{0D108BD9-81ED-4DB2-BD59-A6C34878D82A}">
                    <a16:rowId xmlns:a16="http://schemas.microsoft.com/office/drawing/2014/main" val="1672154687"/>
                  </a:ext>
                </a:extLst>
              </a:tr>
            </a:tbl>
          </a:graphicData>
        </a:graphic>
      </p:graphicFrame>
    </p:spTree>
    <p:extLst>
      <p:ext uri="{BB962C8B-B14F-4D97-AF65-F5344CB8AC3E}">
        <p14:creationId xmlns:p14="http://schemas.microsoft.com/office/powerpoint/2010/main" val="3898463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135CD9-554D-647E-621C-413A55CBA7EE}"/>
              </a:ext>
            </a:extLst>
          </p:cNvPr>
          <p:cNvGraphicFramePr>
            <a:graphicFrameLocks noGrp="1"/>
          </p:cNvGraphicFramePr>
          <p:nvPr>
            <p:ph idx="1"/>
            <p:extLst>
              <p:ext uri="{D42A27DB-BD31-4B8C-83A1-F6EECF244321}">
                <p14:modId xmlns:p14="http://schemas.microsoft.com/office/powerpoint/2010/main" val="3244745356"/>
              </p:ext>
            </p:extLst>
          </p:nvPr>
        </p:nvGraphicFramePr>
        <p:xfrm>
          <a:off x="677862" y="698090"/>
          <a:ext cx="8623455" cy="5683044"/>
        </p:xfrm>
        <a:graphic>
          <a:graphicData uri="http://schemas.openxmlformats.org/drawingml/2006/table">
            <a:tbl>
              <a:tblPr firstRow="1" bandRow="1">
                <a:tableStyleId>{5C22544A-7EE6-4342-B048-85BDC9FD1C3A}</a:tableStyleId>
              </a:tblPr>
              <a:tblGrid>
                <a:gridCol w="688822">
                  <a:extLst>
                    <a:ext uri="{9D8B030D-6E8A-4147-A177-3AD203B41FA5}">
                      <a16:colId xmlns:a16="http://schemas.microsoft.com/office/drawing/2014/main" val="1137517217"/>
                    </a:ext>
                  </a:extLst>
                </a:gridCol>
                <a:gridCol w="2760560">
                  <a:extLst>
                    <a:ext uri="{9D8B030D-6E8A-4147-A177-3AD203B41FA5}">
                      <a16:colId xmlns:a16="http://schemas.microsoft.com/office/drawing/2014/main" val="277761100"/>
                    </a:ext>
                  </a:extLst>
                </a:gridCol>
                <a:gridCol w="1724691">
                  <a:extLst>
                    <a:ext uri="{9D8B030D-6E8A-4147-A177-3AD203B41FA5}">
                      <a16:colId xmlns:a16="http://schemas.microsoft.com/office/drawing/2014/main" val="2893137437"/>
                    </a:ext>
                  </a:extLst>
                </a:gridCol>
                <a:gridCol w="1724691">
                  <a:extLst>
                    <a:ext uri="{9D8B030D-6E8A-4147-A177-3AD203B41FA5}">
                      <a16:colId xmlns:a16="http://schemas.microsoft.com/office/drawing/2014/main" val="3251028593"/>
                    </a:ext>
                  </a:extLst>
                </a:gridCol>
                <a:gridCol w="1724691">
                  <a:extLst>
                    <a:ext uri="{9D8B030D-6E8A-4147-A177-3AD203B41FA5}">
                      <a16:colId xmlns:a16="http://schemas.microsoft.com/office/drawing/2014/main" val="2875512798"/>
                    </a:ext>
                  </a:extLst>
                </a:gridCol>
              </a:tblGrid>
              <a:tr h="1420761">
                <a:tc>
                  <a:txBody>
                    <a:bodyPr/>
                    <a:lstStyle/>
                    <a:p>
                      <a:r>
                        <a:rPr lang="en-US" b="0" dirty="0">
                          <a:solidFill>
                            <a:schemeClr val="tx1"/>
                          </a:solidFill>
                        </a:rPr>
                        <a:t>4.</a:t>
                      </a:r>
                      <a:endParaRPr lang="en-IN" b="0" dirty="0">
                        <a:solidFill>
                          <a:schemeClr val="tx1"/>
                        </a:solidFill>
                      </a:endParaRPr>
                    </a:p>
                  </a:txBody>
                  <a:tcPr>
                    <a:solidFill>
                      <a:schemeClr val="accent1">
                        <a:lumMod val="40000"/>
                        <a:lumOff val="60000"/>
                      </a:schemeClr>
                    </a:solidFill>
                  </a:tcPr>
                </a:tc>
                <a:tc>
                  <a:txBody>
                    <a:bodyPr/>
                    <a:lstStyle/>
                    <a:p>
                      <a:r>
                        <a:rPr lang="en-US" sz="1200" b="0" dirty="0">
                          <a:solidFill>
                            <a:schemeClr val="tx1"/>
                          </a:solidFill>
                        </a:rPr>
                        <a:t>Integrating Language Models with Medical Imaging for Explainable Diagnosis </a:t>
                      </a:r>
                      <a:r>
                        <a:rPr lang="en-IN" sz="1200" b="0" dirty="0">
                          <a:solidFill>
                            <a:schemeClr val="tx1"/>
                          </a:solidFill>
                        </a:rPr>
                        <a:t>— </a:t>
                      </a:r>
                      <a:r>
                        <a:rPr lang="da-DK" sz="1200" b="0" dirty="0">
                          <a:solidFill>
                            <a:schemeClr val="tx1"/>
                          </a:solidFill>
                        </a:rPr>
                        <a:t>Singh, A., et al. (2021)</a:t>
                      </a:r>
                      <a:endParaRPr lang="en-IN" sz="1200" b="0" dirty="0">
                        <a:solidFill>
                          <a:schemeClr val="tx1"/>
                        </a:solidFill>
                      </a:endParaRPr>
                    </a:p>
                  </a:txBody>
                  <a:tcPr>
                    <a:solidFill>
                      <a:schemeClr val="accent1">
                        <a:lumMod val="40000"/>
                        <a:lumOff val="60000"/>
                      </a:schemeClr>
                    </a:solidFill>
                  </a:tcPr>
                </a:tc>
                <a:tc>
                  <a:txBody>
                    <a:bodyPr/>
                    <a:lstStyle/>
                    <a:p>
                      <a:pPr>
                        <a:buNone/>
                      </a:pPr>
                      <a:r>
                        <a:rPr lang="en-US" sz="1200" b="0" dirty="0">
                          <a:solidFill>
                            <a:schemeClr val="tx1"/>
                          </a:solidFill>
                        </a:rPr>
                        <a:t>To combine deep learning and LLMs for natural language explanations of model predictions.</a:t>
                      </a:r>
                    </a:p>
                  </a:txBody>
                  <a:tcPr anchor="ctr">
                    <a:solidFill>
                      <a:schemeClr val="accent1">
                        <a:lumMod val="40000"/>
                        <a:lumOff val="60000"/>
                      </a:schemeClr>
                    </a:solidFill>
                  </a:tcPr>
                </a:tc>
                <a:tc>
                  <a:txBody>
                    <a:bodyPr/>
                    <a:lstStyle/>
                    <a:p>
                      <a:r>
                        <a:rPr lang="en-IN" sz="1200" b="0" dirty="0">
                          <a:solidFill>
                            <a:schemeClr val="tx1"/>
                          </a:solidFill>
                        </a:rPr>
                        <a:t>Improves interpretability; helps non-technical users understand AI decisions.</a:t>
                      </a:r>
                    </a:p>
                  </a:txBody>
                  <a:tcPr>
                    <a:solidFill>
                      <a:schemeClr val="accent1">
                        <a:lumMod val="40000"/>
                        <a:lumOff val="60000"/>
                      </a:schemeClr>
                    </a:solidFill>
                  </a:tcPr>
                </a:tc>
                <a:tc>
                  <a:txBody>
                    <a:bodyPr/>
                    <a:lstStyle/>
                    <a:p>
                      <a:r>
                        <a:rPr lang="en-US" sz="1200" b="0" dirty="0">
                          <a:solidFill>
                            <a:schemeClr val="tx1"/>
                          </a:solidFill>
                        </a:rPr>
                        <a:t>May produce uncertain or generic explanations; needs API dependency.</a:t>
                      </a:r>
                      <a:endParaRPr lang="en-IN" sz="1200" b="0"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val="3400617684"/>
                  </a:ext>
                </a:extLst>
              </a:tr>
              <a:tr h="1420761">
                <a:tc>
                  <a:txBody>
                    <a:bodyPr/>
                    <a:lstStyle/>
                    <a:p>
                      <a:r>
                        <a:rPr lang="en-US" b="0" dirty="0"/>
                        <a:t>5.</a:t>
                      </a:r>
                      <a:endParaRPr lang="en-IN" b="0" dirty="0"/>
                    </a:p>
                  </a:txBody>
                  <a:tcPr/>
                </a:tc>
                <a:tc>
                  <a:txBody>
                    <a:bodyPr/>
                    <a:lstStyle/>
                    <a:p>
                      <a:r>
                        <a:rPr lang="en-US" sz="1200" dirty="0"/>
                        <a:t>Multimodal Alzheimer’s Disease Prediction Using MRI and Cognitive Data </a:t>
                      </a:r>
                      <a:r>
                        <a:rPr lang="en-US" sz="1200" b="0" dirty="0">
                          <a:solidFill>
                            <a:schemeClr val="tx1"/>
                          </a:solidFill>
                        </a:rPr>
                        <a:t> </a:t>
                      </a:r>
                      <a:r>
                        <a:rPr lang="en-IN" sz="1200" b="0" dirty="0">
                          <a:solidFill>
                            <a:schemeClr val="tx1"/>
                          </a:solidFill>
                        </a:rPr>
                        <a:t>— </a:t>
                      </a:r>
                      <a:r>
                        <a:rPr lang="nn-NO" sz="1200" dirty="0"/>
                        <a:t>Liu, M., Cheng, D., Yan, W. (2018)</a:t>
                      </a:r>
                      <a:endParaRPr lang="en-IN" sz="1200" b="0" dirty="0"/>
                    </a:p>
                  </a:txBody>
                  <a:tcPr/>
                </a:tc>
                <a:tc>
                  <a:txBody>
                    <a:bodyPr/>
                    <a:lstStyle/>
                    <a:p>
                      <a:pPr>
                        <a:buNone/>
                      </a:pPr>
                      <a:r>
                        <a:rPr lang="en-US" sz="1200" dirty="0"/>
                        <a:t>To combine MRI imaging with cognitive test data for improved Alzheimer’s detection accuracy.</a:t>
                      </a:r>
                      <a:endParaRPr lang="en-IN" sz="1200" b="0" dirty="0"/>
                    </a:p>
                  </a:txBody>
                  <a:tcPr anchor="ctr"/>
                </a:tc>
                <a:tc>
                  <a:txBody>
                    <a:bodyPr/>
                    <a:lstStyle/>
                    <a:p>
                      <a:r>
                        <a:rPr lang="en-IN" sz="1200" dirty="0"/>
                        <a:t>Captures broader indicators; enhances prediction reliability.</a:t>
                      </a:r>
                      <a:endParaRPr lang="en-IN" sz="1200" b="0" dirty="0"/>
                    </a:p>
                  </a:txBody>
                  <a:tcPr/>
                </a:tc>
                <a:tc>
                  <a:txBody>
                    <a:bodyPr/>
                    <a:lstStyle/>
                    <a:p>
                      <a:r>
                        <a:rPr lang="en-IN" sz="1200" dirty="0"/>
                        <a:t>Complex data fusion; requires multimodal dataset availability.</a:t>
                      </a:r>
                      <a:endParaRPr lang="en-IN" sz="1200" b="0" dirty="0"/>
                    </a:p>
                  </a:txBody>
                  <a:tcPr/>
                </a:tc>
                <a:extLst>
                  <a:ext uri="{0D108BD9-81ED-4DB2-BD59-A6C34878D82A}">
                    <a16:rowId xmlns:a16="http://schemas.microsoft.com/office/drawing/2014/main" val="1550558370"/>
                  </a:ext>
                </a:extLst>
              </a:tr>
              <a:tr h="1420761">
                <a:tc>
                  <a:txBody>
                    <a:bodyPr/>
                    <a:lstStyle/>
                    <a:p>
                      <a:r>
                        <a:rPr lang="en-US" b="0" dirty="0"/>
                        <a:t>6.</a:t>
                      </a:r>
                      <a:endParaRPr lang="en-IN" b="0" dirty="0"/>
                    </a:p>
                  </a:txBody>
                  <a:tcPr/>
                </a:tc>
                <a:tc>
                  <a:txBody>
                    <a:bodyPr/>
                    <a:lstStyle/>
                    <a:p>
                      <a:r>
                        <a:rPr lang="en-US" sz="1200" dirty="0"/>
                        <a:t>Automated Alzheimer’s Stage Detection using </a:t>
                      </a:r>
                      <a:r>
                        <a:rPr lang="en-US" sz="1200" dirty="0" err="1"/>
                        <a:t>EfficientNet</a:t>
                      </a:r>
                      <a:r>
                        <a:rPr lang="en-US" sz="1200" dirty="0"/>
                        <a:t> Architecture </a:t>
                      </a:r>
                      <a:r>
                        <a:rPr lang="en-IN" sz="1200" b="0" dirty="0">
                          <a:solidFill>
                            <a:schemeClr val="tx1"/>
                          </a:solidFill>
                        </a:rPr>
                        <a:t>— </a:t>
                      </a:r>
                      <a:r>
                        <a:rPr lang="en-IN" sz="1200" dirty="0"/>
                        <a:t>Jain &amp; Singh, 2021</a:t>
                      </a:r>
                      <a:endParaRPr lang="en-IN" sz="1200" b="0" dirty="0"/>
                    </a:p>
                  </a:txBody>
                  <a:tcPr/>
                </a:tc>
                <a:tc>
                  <a:txBody>
                    <a:bodyPr/>
                    <a:lstStyle/>
                    <a:p>
                      <a:r>
                        <a:rPr lang="en-US" sz="1200" dirty="0"/>
                        <a:t>To enhance classification accuracy and model efficiency using lightweight CNNs like EfficientNet-B0.</a:t>
                      </a:r>
                      <a:endParaRPr lang="en-IN" sz="1200" b="0" dirty="0"/>
                    </a:p>
                  </a:txBody>
                  <a:tcPr/>
                </a:tc>
                <a:tc>
                  <a:txBody>
                    <a:bodyPr/>
                    <a:lstStyle/>
                    <a:p>
                      <a:r>
                        <a:rPr lang="en-US" sz="1200" dirty="0"/>
                        <a:t>High accuracy with fewer parameters; suitable for real-time deployment.</a:t>
                      </a:r>
                      <a:endParaRPr lang="en-IN" sz="1200" b="0" dirty="0"/>
                    </a:p>
                  </a:txBody>
                  <a:tcPr/>
                </a:tc>
                <a:tc>
                  <a:txBody>
                    <a:bodyPr/>
                    <a:lstStyle/>
                    <a:p>
                      <a:r>
                        <a:rPr lang="en-US" sz="1200" dirty="0"/>
                        <a:t>Limited explainability; model performance may vary across datasets.</a:t>
                      </a:r>
                      <a:endParaRPr lang="en-IN" sz="1200" b="0" dirty="0"/>
                    </a:p>
                  </a:txBody>
                  <a:tcPr/>
                </a:tc>
                <a:extLst>
                  <a:ext uri="{0D108BD9-81ED-4DB2-BD59-A6C34878D82A}">
                    <a16:rowId xmlns:a16="http://schemas.microsoft.com/office/drawing/2014/main" val="3488731711"/>
                  </a:ext>
                </a:extLst>
              </a:tr>
              <a:tr h="1420761">
                <a:tc>
                  <a:txBody>
                    <a:bodyPr/>
                    <a:lstStyle/>
                    <a:p>
                      <a:r>
                        <a:rPr lang="en-US" b="0" dirty="0"/>
                        <a:t>7.</a:t>
                      </a:r>
                      <a:endParaRPr lang="en-IN" b="0" dirty="0"/>
                    </a:p>
                  </a:txBody>
                  <a:tcPr/>
                </a:tc>
                <a:tc>
                  <a:txBody>
                    <a:bodyPr/>
                    <a:lstStyle/>
                    <a:p>
                      <a:r>
                        <a:rPr lang="en-US" sz="1200" dirty="0"/>
                        <a:t>XAI-Based Deep Learning Framework for Alzheimer’s Stage Classification </a:t>
                      </a:r>
                      <a:r>
                        <a:rPr lang="en-IN" sz="1200" b="0" dirty="0">
                          <a:solidFill>
                            <a:schemeClr val="tx1"/>
                          </a:solidFill>
                        </a:rPr>
                        <a:t>—</a:t>
                      </a:r>
                      <a:r>
                        <a:rPr lang="en-IN" sz="1200" dirty="0"/>
                        <a:t>Sharma et al., 2023</a:t>
                      </a:r>
                      <a:endParaRPr lang="en-IN" sz="1200" b="0" dirty="0"/>
                    </a:p>
                  </a:txBody>
                  <a:tcPr/>
                </a:tc>
                <a:tc>
                  <a:txBody>
                    <a:bodyPr/>
                    <a:lstStyle/>
                    <a:p>
                      <a:r>
                        <a:rPr lang="en-US" sz="1200" dirty="0"/>
                        <a:t>To integrate Explainable AI with CNN models for stage-wise Alzheimer’s classification from MRI.</a:t>
                      </a:r>
                      <a:endParaRPr lang="en-IN" sz="1200" b="0" dirty="0"/>
                    </a:p>
                  </a:txBody>
                  <a:tcPr/>
                </a:tc>
                <a:tc>
                  <a:txBody>
                    <a:bodyPr/>
                    <a:lstStyle/>
                    <a:p>
                      <a:r>
                        <a:rPr lang="en-US" sz="1200" dirty="0"/>
                        <a:t>Combines interpretability with performance; user-trust enhancement in diagnosis.</a:t>
                      </a:r>
                      <a:endParaRPr lang="en-IN" sz="1200" b="0" dirty="0"/>
                    </a:p>
                  </a:txBody>
                  <a:tcPr/>
                </a:tc>
                <a:tc>
                  <a:txBody>
                    <a:bodyPr/>
                    <a:lstStyle/>
                    <a:p>
                      <a:r>
                        <a:rPr lang="en-US" sz="1200" dirty="0"/>
                        <a:t>Complex integration; may increase inference time.</a:t>
                      </a:r>
                      <a:endParaRPr lang="en-IN" sz="1200" b="0" dirty="0"/>
                    </a:p>
                  </a:txBody>
                  <a:tcPr/>
                </a:tc>
                <a:extLst>
                  <a:ext uri="{0D108BD9-81ED-4DB2-BD59-A6C34878D82A}">
                    <a16:rowId xmlns:a16="http://schemas.microsoft.com/office/drawing/2014/main" val="2738908913"/>
                  </a:ext>
                </a:extLst>
              </a:tr>
            </a:tbl>
          </a:graphicData>
        </a:graphic>
      </p:graphicFrame>
    </p:spTree>
    <p:extLst>
      <p:ext uri="{BB962C8B-B14F-4D97-AF65-F5344CB8AC3E}">
        <p14:creationId xmlns:p14="http://schemas.microsoft.com/office/powerpoint/2010/main" val="3222235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79750-2DC3-1912-BC8E-6F166AE775F0}"/>
              </a:ext>
            </a:extLst>
          </p:cNvPr>
          <p:cNvSpPr>
            <a:spLocks noGrp="1"/>
          </p:cNvSpPr>
          <p:nvPr>
            <p:ph type="title"/>
          </p:nvPr>
        </p:nvSpPr>
        <p:spPr>
          <a:xfrm>
            <a:off x="677334" y="609600"/>
            <a:ext cx="8596668" cy="776748"/>
          </a:xfrm>
        </p:spPr>
        <p:txBody>
          <a:bodyPr>
            <a:normAutofit/>
          </a:bodyPr>
          <a:lstStyle/>
          <a:p>
            <a:r>
              <a:rPr lang="en-US" sz="4000" dirty="0"/>
              <a:t>Gaps Identified:</a:t>
            </a:r>
            <a:endParaRPr lang="en-IN" sz="4000" dirty="0"/>
          </a:p>
        </p:txBody>
      </p:sp>
      <p:sp>
        <p:nvSpPr>
          <p:cNvPr id="3" name="Content Placeholder 2">
            <a:extLst>
              <a:ext uri="{FF2B5EF4-FFF2-40B4-BE49-F238E27FC236}">
                <a16:creationId xmlns:a16="http://schemas.microsoft.com/office/drawing/2014/main" id="{2C801EEA-851E-07FD-6024-3723872157B7}"/>
              </a:ext>
            </a:extLst>
          </p:cNvPr>
          <p:cNvSpPr>
            <a:spLocks noGrp="1"/>
          </p:cNvSpPr>
          <p:nvPr>
            <p:ph idx="1"/>
          </p:nvPr>
        </p:nvSpPr>
        <p:spPr>
          <a:xfrm>
            <a:off x="677334" y="1504335"/>
            <a:ext cx="8596668" cy="4537027"/>
          </a:xfrm>
        </p:spPr>
        <p:txBody>
          <a:bodyPr>
            <a:normAutofit/>
          </a:bodyPr>
          <a:lstStyle/>
          <a:p>
            <a:pPr algn="just"/>
            <a:r>
              <a:rPr lang="en-US" b="1" dirty="0"/>
              <a:t>Limited Differentiation Between Early and Mild Stages</a:t>
            </a:r>
          </a:p>
          <a:p>
            <a:pPr algn="just"/>
            <a:r>
              <a:rPr lang="en-US" b="1" dirty="0"/>
              <a:t>Dependence on Large, Expert-Annotated MRI Datasets</a:t>
            </a:r>
          </a:p>
          <a:p>
            <a:pPr algn="just"/>
            <a:r>
              <a:rPr lang="en-US" b="1" dirty="0"/>
              <a:t>Insufficient Explainability in Deep Learning Models</a:t>
            </a:r>
          </a:p>
          <a:p>
            <a:pPr algn="just"/>
            <a:r>
              <a:rPr lang="en-US" b="1" dirty="0"/>
              <a:t>Lack of Standardization Across Datasets and Evaluation Protocols</a:t>
            </a:r>
          </a:p>
          <a:p>
            <a:pPr algn="just"/>
            <a:r>
              <a:rPr lang="en-US" b="1" dirty="0"/>
              <a:t>Limited Real-Time and User-Friendly Diagnostic Tools</a:t>
            </a:r>
          </a:p>
          <a:p>
            <a:pPr algn="just"/>
            <a:r>
              <a:rPr lang="en-US" b="1" dirty="0"/>
              <a:t>Minimal Integration of Multimodal and Text-Based Insights</a:t>
            </a:r>
          </a:p>
          <a:p>
            <a:pPr algn="just"/>
            <a:endParaRPr lang="en-US" b="1" dirty="0"/>
          </a:p>
          <a:p>
            <a:pPr algn="just"/>
            <a:endParaRPr lang="en-US" b="1" dirty="0"/>
          </a:p>
          <a:p>
            <a:pPr algn="just"/>
            <a:endParaRPr lang="en-US" b="1" dirty="0"/>
          </a:p>
          <a:p>
            <a:endParaRPr lang="en-IN" dirty="0"/>
          </a:p>
        </p:txBody>
      </p:sp>
    </p:spTree>
    <p:extLst>
      <p:ext uri="{BB962C8B-B14F-4D97-AF65-F5344CB8AC3E}">
        <p14:creationId xmlns:p14="http://schemas.microsoft.com/office/powerpoint/2010/main" val="99846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BD8D0-8DC0-F8EC-728A-E8D85986CA54}"/>
              </a:ext>
            </a:extLst>
          </p:cNvPr>
          <p:cNvSpPr>
            <a:spLocks noGrp="1"/>
          </p:cNvSpPr>
          <p:nvPr>
            <p:ph type="title"/>
          </p:nvPr>
        </p:nvSpPr>
        <p:spPr>
          <a:xfrm>
            <a:off x="677334" y="830825"/>
            <a:ext cx="8596668" cy="658761"/>
          </a:xfrm>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0E6657C5-F180-94A7-3794-78A9359D49D6}"/>
              </a:ext>
            </a:extLst>
          </p:cNvPr>
          <p:cNvSpPr>
            <a:spLocks noGrp="1"/>
          </p:cNvSpPr>
          <p:nvPr>
            <p:ph idx="1"/>
          </p:nvPr>
        </p:nvSpPr>
        <p:spPr>
          <a:xfrm>
            <a:off x="677334" y="1759976"/>
            <a:ext cx="8596668" cy="3608438"/>
          </a:xfrm>
        </p:spPr>
        <p:txBody>
          <a:bodyPr>
            <a:normAutofit/>
          </a:bodyPr>
          <a:lstStyle/>
          <a:p>
            <a:r>
              <a:rPr lang="en-IN" sz="2400" dirty="0"/>
              <a:t>To design and develop a deep learning–based system capable of accurately classifying different stages of Alzheimer’s disease from MRI brain scans using Convolutional Neural Networks (CNNs), enhanced with Explainable AI (XAI) for interpretability and natural language explanations for clinical support.</a:t>
            </a:r>
          </a:p>
        </p:txBody>
      </p:sp>
    </p:spTree>
    <p:extLst>
      <p:ext uri="{BB962C8B-B14F-4D97-AF65-F5344CB8AC3E}">
        <p14:creationId xmlns:p14="http://schemas.microsoft.com/office/powerpoint/2010/main" val="1506930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6B54E-A4DF-92F4-27E0-28773751A90C}"/>
              </a:ext>
            </a:extLst>
          </p:cNvPr>
          <p:cNvSpPr>
            <a:spLocks noGrp="1"/>
          </p:cNvSpPr>
          <p:nvPr>
            <p:ph type="title"/>
          </p:nvPr>
        </p:nvSpPr>
        <p:spPr>
          <a:xfrm>
            <a:off x="677334" y="609600"/>
            <a:ext cx="8596668" cy="786581"/>
          </a:xfrm>
        </p:spPr>
        <p:txBody>
          <a:bodyPr>
            <a:normAutofit/>
          </a:bodyPr>
          <a:lstStyle/>
          <a:p>
            <a:r>
              <a:rPr lang="en-IN" sz="4000" dirty="0"/>
              <a:t>Objectives:</a:t>
            </a:r>
          </a:p>
        </p:txBody>
      </p:sp>
      <p:sp>
        <p:nvSpPr>
          <p:cNvPr id="3" name="Content Placeholder 2">
            <a:extLst>
              <a:ext uri="{FF2B5EF4-FFF2-40B4-BE49-F238E27FC236}">
                <a16:creationId xmlns:a16="http://schemas.microsoft.com/office/drawing/2014/main" id="{56F2FEB0-4AB9-893A-C521-5BEC23915BCC}"/>
              </a:ext>
            </a:extLst>
          </p:cNvPr>
          <p:cNvSpPr>
            <a:spLocks noGrp="1"/>
          </p:cNvSpPr>
          <p:nvPr>
            <p:ph idx="1"/>
          </p:nvPr>
        </p:nvSpPr>
        <p:spPr>
          <a:xfrm>
            <a:off x="677334" y="1396181"/>
            <a:ext cx="8596668" cy="4645181"/>
          </a:xfrm>
        </p:spPr>
        <p:txBody>
          <a:bodyPr>
            <a:normAutofit/>
          </a:bodyPr>
          <a:lstStyle/>
          <a:p>
            <a:r>
              <a:rPr lang="en-IN" b="1" dirty="0"/>
              <a:t>1. </a:t>
            </a:r>
            <a:r>
              <a:rPr lang="en-US" b="1" dirty="0"/>
              <a:t>Implement Robust MRI Data Preprocessing and Augmentation</a:t>
            </a:r>
            <a:br>
              <a:rPr lang="en-US" dirty="0"/>
            </a:br>
            <a:r>
              <a:rPr lang="en-US" dirty="0"/>
              <a:t>Apply image preprocessing techniques such as skull stripping, normalization, and resizing to ensure data consistency.</a:t>
            </a:r>
            <a:br>
              <a:rPr lang="en-US" dirty="0"/>
            </a:br>
            <a:r>
              <a:rPr lang="en-US" dirty="0"/>
              <a:t>Use augmentation methods like rotation, flipping, and contrast enhancement to improve model robustness and reduce overfitting.</a:t>
            </a:r>
            <a:endParaRPr lang="en-IN" dirty="0"/>
          </a:p>
          <a:p>
            <a:r>
              <a:rPr lang="en-IN" b="1" dirty="0"/>
              <a:t>Develop a Deep Learning Model for Alzheimer’s Stage Classification</a:t>
            </a:r>
            <a:br>
              <a:rPr lang="en-IN" dirty="0"/>
            </a:br>
            <a:r>
              <a:rPr lang="en-IN" dirty="0"/>
              <a:t>Design and train CNN architectures to classify MRI brain scans into various Alzheimer’s stages (Non-Demented, Very Mild, Mild, Moderate).</a:t>
            </a:r>
            <a:br>
              <a:rPr lang="en-IN" dirty="0"/>
            </a:br>
            <a:r>
              <a:rPr lang="en-IN" dirty="0"/>
              <a:t>Optimize model performance using hyperparameter tuning and validation strategies.</a:t>
            </a:r>
          </a:p>
          <a:p>
            <a:r>
              <a:rPr lang="en-US" b="1" dirty="0"/>
              <a:t>Integrate Explainable AI (XAI) for Model Transparency</a:t>
            </a:r>
            <a:br>
              <a:rPr lang="en-US" dirty="0"/>
            </a:br>
            <a:r>
              <a:rPr lang="en-US" dirty="0"/>
              <a:t>Incorporate Grad-CAM or similar techniques to visualize key brain regions influencing predictions.</a:t>
            </a:r>
            <a:br>
              <a:rPr lang="en-US" dirty="0"/>
            </a:br>
            <a:r>
              <a:rPr lang="en-US" dirty="0"/>
              <a:t>Enhance trust and interpretability for medical professionals through clear visual explanations.</a:t>
            </a:r>
            <a:endParaRPr lang="en-IN" dirty="0"/>
          </a:p>
          <a:p>
            <a:pPr marL="0" indent="0" algn="just">
              <a:lnSpc>
                <a:spcPct val="150000"/>
              </a:lnSpc>
              <a:buNone/>
            </a:pPr>
            <a:endParaRPr lang="en-US" sz="1600" dirty="0"/>
          </a:p>
          <a:p>
            <a:pPr marL="0" indent="0" algn="just">
              <a:buNone/>
            </a:pPr>
            <a:endParaRPr lang="en-US" sz="1600" dirty="0"/>
          </a:p>
          <a:p>
            <a:pPr marL="0" indent="0">
              <a:buNone/>
            </a:pPr>
            <a:endParaRPr lang="en-US" sz="1600" dirty="0"/>
          </a:p>
          <a:p>
            <a:pPr marL="0" indent="0">
              <a:buNone/>
            </a:pPr>
            <a:endParaRPr lang="en-US" sz="1600" dirty="0"/>
          </a:p>
          <a:p>
            <a:pPr marL="0" indent="0">
              <a:buNone/>
            </a:pPr>
            <a:endParaRPr lang="en-IN" dirty="0"/>
          </a:p>
        </p:txBody>
      </p:sp>
    </p:spTree>
    <p:extLst>
      <p:ext uri="{BB962C8B-B14F-4D97-AF65-F5344CB8AC3E}">
        <p14:creationId xmlns:p14="http://schemas.microsoft.com/office/powerpoint/2010/main" val="2197743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F88313-3CE0-D4DF-1DA5-C9A864709969}"/>
              </a:ext>
            </a:extLst>
          </p:cNvPr>
          <p:cNvSpPr>
            <a:spLocks noGrp="1"/>
          </p:cNvSpPr>
          <p:nvPr>
            <p:ph idx="1"/>
          </p:nvPr>
        </p:nvSpPr>
        <p:spPr>
          <a:xfrm>
            <a:off x="728134" y="746655"/>
            <a:ext cx="8596668" cy="5510212"/>
          </a:xfrm>
        </p:spPr>
        <p:txBody>
          <a:bodyPr/>
          <a:lstStyle/>
          <a:p>
            <a:r>
              <a:rPr lang="en-US" b="1" dirty="0"/>
              <a:t>Enable Natural Language Output Generation</a:t>
            </a:r>
            <a:br>
              <a:rPr lang="en-US" dirty="0"/>
            </a:br>
            <a:r>
              <a:rPr lang="en-US" dirty="0"/>
              <a:t>Implement LLM-based summarization to translate model predictions into simple, clinically relevant language for easier interpretation.</a:t>
            </a:r>
            <a:endParaRPr lang="en-IN" sz="1600" dirty="0"/>
          </a:p>
          <a:p>
            <a:r>
              <a:rPr lang="en-US" b="1" dirty="0"/>
              <a:t>Deploy as a Web-Based Diagnostic Platform</a:t>
            </a:r>
            <a:br>
              <a:rPr lang="en-US" dirty="0"/>
            </a:br>
            <a:r>
              <a:rPr lang="en-US" dirty="0"/>
              <a:t>Build an interactive Flask web application allowing users to upload MRI scans and receive stage classification along with XAI and textual explanations.</a:t>
            </a:r>
          </a:p>
          <a:p>
            <a:pPr marL="0" indent="0">
              <a:buNone/>
            </a:pPr>
            <a:endParaRPr lang="en-IN" dirty="0"/>
          </a:p>
        </p:txBody>
      </p:sp>
    </p:spTree>
    <p:extLst>
      <p:ext uri="{BB962C8B-B14F-4D97-AF65-F5344CB8AC3E}">
        <p14:creationId xmlns:p14="http://schemas.microsoft.com/office/powerpoint/2010/main" val="3007110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7C4B0-0093-DCFE-76D7-897AB387ABD0}"/>
              </a:ext>
            </a:extLst>
          </p:cNvPr>
          <p:cNvSpPr>
            <a:spLocks noGrp="1"/>
          </p:cNvSpPr>
          <p:nvPr>
            <p:ph type="title"/>
          </p:nvPr>
        </p:nvSpPr>
        <p:spPr>
          <a:xfrm>
            <a:off x="677334" y="609600"/>
            <a:ext cx="8596668" cy="719667"/>
          </a:xfrm>
        </p:spPr>
        <p:txBody>
          <a:bodyPr/>
          <a:lstStyle/>
          <a:p>
            <a:r>
              <a:rPr lang="en-US" dirty="0"/>
              <a:t>Proposed Solution:</a:t>
            </a:r>
            <a:endParaRPr lang="en-IN" dirty="0"/>
          </a:p>
        </p:txBody>
      </p:sp>
      <p:sp>
        <p:nvSpPr>
          <p:cNvPr id="3" name="Content Placeholder 2">
            <a:extLst>
              <a:ext uri="{FF2B5EF4-FFF2-40B4-BE49-F238E27FC236}">
                <a16:creationId xmlns:a16="http://schemas.microsoft.com/office/drawing/2014/main" id="{7349B960-71EF-4D23-9BDC-ABEE81B5BEC7}"/>
              </a:ext>
            </a:extLst>
          </p:cNvPr>
          <p:cNvSpPr>
            <a:spLocks noGrp="1"/>
          </p:cNvSpPr>
          <p:nvPr>
            <p:ph idx="1"/>
          </p:nvPr>
        </p:nvSpPr>
        <p:spPr>
          <a:xfrm>
            <a:off x="677334" y="1329267"/>
            <a:ext cx="8596668" cy="4712095"/>
          </a:xfrm>
        </p:spPr>
        <p:txBody>
          <a:bodyPr>
            <a:noAutofit/>
          </a:bodyPr>
          <a:lstStyle/>
          <a:p>
            <a:pPr algn="just"/>
            <a:r>
              <a:rPr lang="en-US" sz="1400" b="1" dirty="0"/>
              <a:t>System Workflow:</a:t>
            </a:r>
          </a:p>
          <a:p>
            <a:pPr marL="0" indent="0" algn="just">
              <a:buNone/>
            </a:pPr>
            <a:r>
              <a:rPr lang="en-US" sz="1400" b="1" dirty="0"/>
              <a:t>1.Data Collection &amp; Preparation:</a:t>
            </a:r>
          </a:p>
          <a:p>
            <a:pPr lvl="1" algn="just"/>
            <a:r>
              <a:rPr lang="en-US" sz="1400" dirty="0"/>
              <a:t>Gather MRI brain scan images categorized into four classes — </a:t>
            </a:r>
            <a:r>
              <a:rPr lang="en-US" sz="1400" i="1" dirty="0" err="1"/>
              <a:t>NonDemented</a:t>
            </a:r>
            <a:r>
              <a:rPr lang="en-US" sz="1400" dirty="0"/>
              <a:t>, </a:t>
            </a:r>
            <a:r>
              <a:rPr lang="en-US" sz="1400" i="1" dirty="0" err="1"/>
              <a:t>VeryMildDemented</a:t>
            </a:r>
            <a:r>
              <a:rPr lang="en-US" sz="1400" dirty="0"/>
              <a:t>, </a:t>
            </a:r>
            <a:r>
              <a:rPr lang="en-US" sz="1400" i="1" dirty="0" err="1"/>
              <a:t>MildDemented</a:t>
            </a:r>
            <a:r>
              <a:rPr lang="en-US" sz="1400" dirty="0"/>
              <a:t>, and </a:t>
            </a:r>
            <a:r>
              <a:rPr lang="en-US" sz="1400" i="1" dirty="0" err="1"/>
              <a:t>ModerateDemented</a:t>
            </a:r>
            <a:r>
              <a:rPr lang="en-US" sz="1400" i="1" dirty="0"/>
              <a:t>.</a:t>
            </a:r>
          </a:p>
          <a:p>
            <a:pPr lvl="1" algn="just"/>
            <a:r>
              <a:rPr lang="en-US" sz="1400" dirty="0"/>
              <a:t>Convert images from BGR to RGB, resize to 96×96 pixels, normalize to [0,1], and prepare for model input.</a:t>
            </a:r>
          </a:p>
          <a:p>
            <a:pPr marL="0" indent="0" algn="just">
              <a:buNone/>
            </a:pPr>
            <a:r>
              <a:rPr lang="en-US" sz="1400" b="1" dirty="0"/>
              <a:t>2.Data Augmentation:</a:t>
            </a:r>
          </a:p>
          <a:p>
            <a:pPr lvl="1" algn="just"/>
            <a:r>
              <a:rPr lang="en-US" sz="1400" dirty="0"/>
              <a:t>Apply transformations such as rotation, flipping, zooming, brightness, and contrast adjustments to enhance dataset diversity.</a:t>
            </a:r>
          </a:p>
          <a:p>
            <a:pPr lvl="1" algn="just"/>
            <a:r>
              <a:rPr lang="en-US" sz="1400" dirty="0"/>
              <a:t>Use augmentation to reduce overfitting and improve model robustness across varied scan conditions.</a:t>
            </a:r>
          </a:p>
          <a:p>
            <a:pPr marL="0" indent="0">
              <a:buNone/>
            </a:pPr>
            <a:r>
              <a:rPr lang="en-IN" sz="1400" b="1" dirty="0"/>
              <a:t>3.Model Development:</a:t>
            </a:r>
            <a:endParaRPr lang="en-IN" sz="1400" dirty="0"/>
          </a:p>
          <a:p>
            <a:pPr lvl="1"/>
            <a:r>
              <a:rPr lang="en-US" sz="1400" dirty="0"/>
              <a:t>Implement and compare two architectures — a </a:t>
            </a:r>
            <a:r>
              <a:rPr lang="en-US" sz="1400" b="1" dirty="0"/>
              <a:t>custom CNN</a:t>
            </a:r>
            <a:r>
              <a:rPr lang="en-US" sz="1400" dirty="0"/>
              <a:t> and </a:t>
            </a:r>
            <a:r>
              <a:rPr lang="en-US" sz="1400" b="1" dirty="0"/>
              <a:t>VGG16-based transfer learning model</a:t>
            </a:r>
            <a:r>
              <a:rPr lang="en-US" sz="1400" dirty="0"/>
              <a:t> for multi-class classification</a:t>
            </a:r>
            <a:r>
              <a:rPr lang="en-IN" sz="1400" dirty="0"/>
              <a:t>.</a:t>
            </a:r>
          </a:p>
          <a:p>
            <a:pPr lvl="1"/>
            <a:r>
              <a:rPr lang="en-US" sz="1400" dirty="0"/>
              <a:t>Train with early stopping, batch normalization, and dropout to optimize accuracy and prevent overfitting</a:t>
            </a:r>
            <a:r>
              <a:rPr lang="en-IN" sz="1400" dirty="0"/>
              <a:t>.	</a:t>
            </a:r>
          </a:p>
        </p:txBody>
      </p:sp>
    </p:spTree>
    <p:extLst>
      <p:ext uri="{BB962C8B-B14F-4D97-AF65-F5344CB8AC3E}">
        <p14:creationId xmlns:p14="http://schemas.microsoft.com/office/powerpoint/2010/main" val="3264569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FDF4E-AF45-1D05-D17C-E3DDB422A224}"/>
              </a:ext>
            </a:extLst>
          </p:cNvPr>
          <p:cNvSpPr>
            <a:spLocks noGrp="1"/>
          </p:cNvSpPr>
          <p:nvPr>
            <p:ph type="title"/>
          </p:nvPr>
        </p:nvSpPr>
        <p:spPr/>
        <p:txBody>
          <a:bodyPr/>
          <a:lstStyle/>
          <a:p>
            <a:r>
              <a:rPr lang="en-US" dirty="0"/>
              <a:t>Proposed Solution:</a:t>
            </a:r>
            <a:endParaRPr lang="en-IN" dirty="0"/>
          </a:p>
        </p:txBody>
      </p:sp>
      <p:sp>
        <p:nvSpPr>
          <p:cNvPr id="3" name="Content Placeholder 2">
            <a:extLst>
              <a:ext uri="{FF2B5EF4-FFF2-40B4-BE49-F238E27FC236}">
                <a16:creationId xmlns:a16="http://schemas.microsoft.com/office/drawing/2014/main" id="{3EE8B450-2315-F9BA-94CF-770E7CCB68C6}"/>
              </a:ext>
            </a:extLst>
          </p:cNvPr>
          <p:cNvSpPr>
            <a:spLocks noGrp="1"/>
          </p:cNvSpPr>
          <p:nvPr>
            <p:ph idx="1"/>
          </p:nvPr>
        </p:nvSpPr>
        <p:spPr>
          <a:xfrm>
            <a:off x="677334" y="1430767"/>
            <a:ext cx="8596668" cy="4610595"/>
          </a:xfrm>
        </p:spPr>
        <p:txBody>
          <a:bodyPr>
            <a:normAutofit/>
          </a:bodyPr>
          <a:lstStyle/>
          <a:p>
            <a:pPr marL="0" indent="0">
              <a:buNone/>
            </a:pPr>
            <a:r>
              <a:rPr lang="en-IN" sz="1400" b="1" dirty="0"/>
              <a:t>4.Model Evaluation:</a:t>
            </a:r>
          </a:p>
          <a:p>
            <a:pPr lvl="1"/>
            <a:r>
              <a:rPr lang="en-US" sz="1400" dirty="0"/>
              <a:t>Evaluate both models using metrics such as accuracy, precision, recall, F1-score, and confusion matrix.</a:t>
            </a:r>
          </a:p>
          <a:p>
            <a:pPr lvl="1"/>
            <a:r>
              <a:rPr lang="en-US" sz="1400" dirty="0"/>
              <a:t>Compare model performance on unseen test data and analyze visualization and explanation consistency.</a:t>
            </a:r>
            <a:endParaRPr lang="en-IN" sz="1400" dirty="0"/>
          </a:p>
          <a:p>
            <a:pPr marL="0" indent="0">
              <a:buNone/>
            </a:pPr>
            <a:r>
              <a:rPr lang="en-IN" sz="1400" dirty="0"/>
              <a:t>5. Explainable AI Integration:</a:t>
            </a:r>
          </a:p>
          <a:p>
            <a:pPr lvl="1"/>
            <a:r>
              <a:rPr lang="en-IN" sz="1400" dirty="0"/>
              <a:t>Employ </a:t>
            </a:r>
            <a:r>
              <a:rPr lang="en-IN" sz="1400" b="1" dirty="0"/>
              <a:t>Grad-CAM</a:t>
            </a:r>
            <a:r>
              <a:rPr lang="en-IN" sz="1400" dirty="0"/>
              <a:t>, multi-class Grad-CAM, and </a:t>
            </a:r>
            <a:r>
              <a:rPr lang="en-IN" sz="1400" b="1" dirty="0"/>
              <a:t>saliency maps</a:t>
            </a:r>
            <a:r>
              <a:rPr lang="en-IN" sz="1400" dirty="0"/>
              <a:t> to visualize brain regions influencing predictions.</a:t>
            </a:r>
          </a:p>
          <a:p>
            <a:pPr lvl="1"/>
            <a:r>
              <a:rPr lang="en-IN" sz="1400" dirty="0"/>
              <a:t>Generate 2×2 class-specific heatmap grids for interpretability and trust in model decisions.</a:t>
            </a:r>
          </a:p>
          <a:p>
            <a:pPr marL="0" indent="0">
              <a:buNone/>
            </a:pPr>
            <a:r>
              <a:rPr lang="en-IN" sz="1400" dirty="0"/>
              <a:t>6. Natural Language Explanation:</a:t>
            </a:r>
          </a:p>
          <a:p>
            <a:pPr lvl="1"/>
            <a:r>
              <a:rPr lang="en-IN" sz="1400" dirty="0"/>
              <a:t> Integrate </a:t>
            </a:r>
            <a:r>
              <a:rPr lang="en-IN" sz="1400" b="1" dirty="0"/>
              <a:t>LLM-based explanation generation</a:t>
            </a:r>
            <a:r>
              <a:rPr lang="en-IN" sz="1400" dirty="0"/>
              <a:t> (using GPT-4o-mini or fallback T5) for contextual, human-understandable reports.</a:t>
            </a:r>
          </a:p>
          <a:p>
            <a:pPr lvl="1"/>
            <a:r>
              <a:rPr lang="en-IN" sz="1400" dirty="0"/>
              <a:t> Provide interpretations covering prediction meaning, confidence, affected brain regions, and clinical significance.</a:t>
            </a:r>
          </a:p>
          <a:p>
            <a:endParaRPr lang="en-IN" dirty="0"/>
          </a:p>
        </p:txBody>
      </p:sp>
    </p:spTree>
    <p:extLst>
      <p:ext uri="{BB962C8B-B14F-4D97-AF65-F5344CB8AC3E}">
        <p14:creationId xmlns:p14="http://schemas.microsoft.com/office/powerpoint/2010/main" val="2989093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8288-6074-67DF-4545-3E5EA4DFA969}"/>
              </a:ext>
            </a:extLst>
          </p:cNvPr>
          <p:cNvSpPr>
            <a:spLocks noGrp="1"/>
          </p:cNvSpPr>
          <p:nvPr>
            <p:ph type="title"/>
          </p:nvPr>
        </p:nvSpPr>
        <p:spPr>
          <a:xfrm>
            <a:off x="677334" y="609600"/>
            <a:ext cx="8596668" cy="698090"/>
          </a:xfrm>
        </p:spPr>
        <p:txBody>
          <a:bodyPr/>
          <a:lstStyle/>
          <a:p>
            <a:r>
              <a:rPr lang="en-IN" dirty="0"/>
              <a:t>Objective-1:</a:t>
            </a:r>
          </a:p>
        </p:txBody>
      </p:sp>
      <p:sp>
        <p:nvSpPr>
          <p:cNvPr id="3" name="Content Placeholder 2">
            <a:extLst>
              <a:ext uri="{FF2B5EF4-FFF2-40B4-BE49-F238E27FC236}">
                <a16:creationId xmlns:a16="http://schemas.microsoft.com/office/drawing/2014/main" id="{2E5A0668-D4A8-C2FF-DE0B-10BD2403C1F9}"/>
              </a:ext>
            </a:extLst>
          </p:cNvPr>
          <p:cNvSpPr>
            <a:spLocks noGrp="1"/>
          </p:cNvSpPr>
          <p:nvPr>
            <p:ph idx="1"/>
          </p:nvPr>
        </p:nvSpPr>
        <p:spPr>
          <a:xfrm>
            <a:off x="677334" y="1376517"/>
            <a:ext cx="8596668" cy="4664846"/>
          </a:xfrm>
        </p:spPr>
        <p:txBody>
          <a:bodyPr/>
          <a:lstStyle/>
          <a:p>
            <a:r>
              <a:rPr lang="en-US" dirty="0"/>
              <a:t>The dataset was systematically split into training, validation, and testing sets to ensure balanced learning and reliable evaluation. Each MRI image was resized, normalized, and augmented using techniques such as rotation, brightness, hue adjustment, and flipping to increase data diversity and reduce overfitting.</a:t>
            </a:r>
            <a:br>
              <a:rPr lang="en-US" dirty="0"/>
            </a:br>
            <a:r>
              <a:rPr lang="en-US" dirty="0"/>
              <a:t>Since the original dataset was relatively small (≈6,400 images) and class-imbalanced, extensive augmentation was applied to balance all categories. After augmentation, each class contained 9,600 images, resulting in a total of 38,400 images, enabling robust and generalized model training.</a:t>
            </a:r>
          </a:p>
          <a:p>
            <a:pPr marL="0" indent="0">
              <a:buNone/>
            </a:pPr>
            <a:endParaRPr lang="en-IN" dirty="0"/>
          </a:p>
        </p:txBody>
      </p:sp>
      <p:pic>
        <p:nvPicPr>
          <p:cNvPr id="6" name="Picture 5">
            <a:extLst>
              <a:ext uri="{FF2B5EF4-FFF2-40B4-BE49-F238E27FC236}">
                <a16:creationId xmlns:a16="http://schemas.microsoft.com/office/drawing/2014/main" id="{9A113B3F-8591-12DD-D745-DA6F9C2AD95D}"/>
              </a:ext>
            </a:extLst>
          </p:cNvPr>
          <p:cNvPicPr>
            <a:picLocks noChangeAspect="1"/>
          </p:cNvPicPr>
          <p:nvPr/>
        </p:nvPicPr>
        <p:blipFill>
          <a:blip r:embed="rId2">
            <a:extLst>
              <a:ext uri="{28A0092B-C50C-407E-A947-70E740481C1C}">
                <a14:useLocalDpi xmlns:a14="http://schemas.microsoft.com/office/drawing/2010/main" val="0"/>
              </a:ext>
            </a:extLst>
          </a:blip>
          <a:srcRect r="28183"/>
          <a:stretch>
            <a:fillRect/>
          </a:stretch>
        </p:blipFill>
        <p:spPr>
          <a:xfrm>
            <a:off x="543126" y="4063923"/>
            <a:ext cx="5644963" cy="2257425"/>
          </a:xfrm>
          <a:prstGeom prst="rect">
            <a:avLst/>
          </a:prstGeom>
        </p:spPr>
      </p:pic>
      <p:pic>
        <p:nvPicPr>
          <p:cNvPr id="8" name="Picture 7">
            <a:extLst>
              <a:ext uri="{FF2B5EF4-FFF2-40B4-BE49-F238E27FC236}">
                <a16:creationId xmlns:a16="http://schemas.microsoft.com/office/drawing/2014/main" id="{93E40C21-1F1F-234B-3780-F673CEA947AE}"/>
              </a:ext>
            </a:extLst>
          </p:cNvPr>
          <p:cNvPicPr>
            <a:picLocks noChangeAspect="1"/>
          </p:cNvPicPr>
          <p:nvPr/>
        </p:nvPicPr>
        <p:blipFill>
          <a:blip r:embed="rId3"/>
          <a:stretch>
            <a:fillRect/>
          </a:stretch>
        </p:blipFill>
        <p:spPr>
          <a:xfrm>
            <a:off x="6053880" y="3990975"/>
            <a:ext cx="3689874" cy="2403323"/>
          </a:xfrm>
          <a:prstGeom prst="rect">
            <a:avLst/>
          </a:prstGeom>
        </p:spPr>
      </p:pic>
    </p:spTree>
    <p:extLst>
      <p:ext uri="{BB962C8B-B14F-4D97-AF65-F5344CB8AC3E}">
        <p14:creationId xmlns:p14="http://schemas.microsoft.com/office/powerpoint/2010/main" val="1263881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065C2-C6FB-8316-C827-B2C274FB679A}"/>
              </a:ext>
            </a:extLst>
          </p:cNvPr>
          <p:cNvSpPr>
            <a:spLocks noGrp="1"/>
          </p:cNvSpPr>
          <p:nvPr>
            <p:ph type="title"/>
          </p:nvPr>
        </p:nvSpPr>
        <p:spPr>
          <a:xfrm>
            <a:off x="677334" y="609600"/>
            <a:ext cx="8596668" cy="757084"/>
          </a:xfrm>
        </p:spPr>
        <p:txBody>
          <a:bodyPr/>
          <a:lstStyle/>
          <a:p>
            <a:r>
              <a:rPr lang="en-IN" dirty="0"/>
              <a:t>Objective-2:</a:t>
            </a:r>
          </a:p>
        </p:txBody>
      </p:sp>
      <p:sp>
        <p:nvSpPr>
          <p:cNvPr id="3" name="Content Placeholder 2">
            <a:extLst>
              <a:ext uri="{FF2B5EF4-FFF2-40B4-BE49-F238E27FC236}">
                <a16:creationId xmlns:a16="http://schemas.microsoft.com/office/drawing/2014/main" id="{C32D5795-3C02-C165-5BF2-0E20882BF533}"/>
              </a:ext>
            </a:extLst>
          </p:cNvPr>
          <p:cNvSpPr>
            <a:spLocks noGrp="1"/>
          </p:cNvSpPr>
          <p:nvPr>
            <p:ph idx="1"/>
          </p:nvPr>
        </p:nvSpPr>
        <p:spPr>
          <a:xfrm>
            <a:off x="677334" y="1366685"/>
            <a:ext cx="8596668" cy="4674678"/>
          </a:xfrm>
        </p:spPr>
        <p:txBody>
          <a:bodyPr>
            <a:normAutofit/>
          </a:bodyPr>
          <a:lstStyle/>
          <a:p>
            <a:r>
              <a:rPr lang="en-US" sz="1600" b="1" dirty="0"/>
              <a:t>Custom CNN Model:</a:t>
            </a:r>
            <a:r>
              <a:rPr lang="en-US" sz="1600" dirty="0"/>
              <a:t> Achieved strong baseline performance with stable training, high accuracy, and excellent generalization across all Alzheimer’s stages. The model demonstrated superior test performance with minimal overfitting and effectively captured fine-grained MRI features.</a:t>
            </a:r>
            <a:endParaRPr lang="en-IN" sz="1600" dirty="0"/>
          </a:p>
        </p:txBody>
      </p:sp>
      <p:pic>
        <p:nvPicPr>
          <p:cNvPr id="6" name="Picture 5">
            <a:extLst>
              <a:ext uri="{FF2B5EF4-FFF2-40B4-BE49-F238E27FC236}">
                <a16:creationId xmlns:a16="http://schemas.microsoft.com/office/drawing/2014/main" id="{77C79F63-0360-BA01-2EF4-7EEB3AC872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033" y="2640771"/>
            <a:ext cx="8953948" cy="2938014"/>
          </a:xfrm>
          <a:prstGeom prst="rect">
            <a:avLst/>
          </a:prstGeom>
        </p:spPr>
      </p:pic>
    </p:spTree>
    <p:extLst>
      <p:ext uri="{BB962C8B-B14F-4D97-AF65-F5344CB8AC3E}">
        <p14:creationId xmlns:p14="http://schemas.microsoft.com/office/powerpoint/2010/main" val="3545076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09B356-FCA2-F092-8FD4-E6CBE887EB0D}"/>
              </a:ext>
            </a:extLst>
          </p:cNvPr>
          <p:cNvSpPr>
            <a:spLocks noGrp="1"/>
          </p:cNvSpPr>
          <p:nvPr>
            <p:ph idx="1"/>
          </p:nvPr>
        </p:nvSpPr>
        <p:spPr>
          <a:xfrm>
            <a:off x="677334" y="403123"/>
            <a:ext cx="8596668" cy="5638239"/>
          </a:xfrm>
        </p:spPr>
        <p:txBody>
          <a:bodyPr/>
          <a:lstStyle/>
          <a:p>
            <a:r>
              <a:rPr lang="en-US" b="1" dirty="0"/>
              <a:t>VGG16 Model:</a:t>
            </a:r>
            <a:r>
              <a:rPr lang="en-US" dirty="0"/>
              <a:t> Delivered competitive results through transfer learning, leveraging pre-trained ImageNet weights for efficient feature extraction. While accuracy and validation performance were slightly lower than the Custom CNN, it exhibited robust learning and faster convergence during initial training stages.</a:t>
            </a:r>
            <a:endParaRPr lang="en-IN" dirty="0"/>
          </a:p>
        </p:txBody>
      </p:sp>
      <p:pic>
        <p:nvPicPr>
          <p:cNvPr id="4" name="Picture 3">
            <a:extLst>
              <a:ext uri="{FF2B5EF4-FFF2-40B4-BE49-F238E27FC236}">
                <a16:creationId xmlns:a16="http://schemas.microsoft.com/office/drawing/2014/main" id="{C57F4491-36A7-EB8F-8894-A2734D63BE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783" y="2133731"/>
            <a:ext cx="9405769" cy="3314064"/>
          </a:xfrm>
          <a:prstGeom prst="rect">
            <a:avLst/>
          </a:prstGeom>
        </p:spPr>
      </p:pic>
    </p:spTree>
    <p:extLst>
      <p:ext uri="{BB962C8B-B14F-4D97-AF65-F5344CB8AC3E}">
        <p14:creationId xmlns:p14="http://schemas.microsoft.com/office/powerpoint/2010/main" val="599537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BD393-AB9C-7C30-5A31-F63031344A0F}"/>
              </a:ext>
            </a:extLst>
          </p:cNvPr>
          <p:cNvSpPr>
            <a:spLocks noGrp="1"/>
          </p:cNvSpPr>
          <p:nvPr>
            <p:ph type="title"/>
          </p:nvPr>
        </p:nvSpPr>
        <p:spPr>
          <a:xfrm>
            <a:off x="677334" y="609600"/>
            <a:ext cx="8596668" cy="648929"/>
          </a:xfrm>
        </p:spPr>
        <p:txBody>
          <a:bodyPr/>
          <a:lstStyle/>
          <a:p>
            <a:r>
              <a:rPr lang="en-IN" dirty="0"/>
              <a:t>Compared Analysis:</a:t>
            </a:r>
          </a:p>
        </p:txBody>
      </p:sp>
      <p:pic>
        <p:nvPicPr>
          <p:cNvPr id="13" name="Content Placeholder 12">
            <a:extLst>
              <a:ext uri="{FF2B5EF4-FFF2-40B4-BE49-F238E27FC236}">
                <a16:creationId xmlns:a16="http://schemas.microsoft.com/office/drawing/2014/main" id="{0E70B760-5841-017E-648D-DB283146B5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2025552"/>
            <a:ext cx="8596312" cy="3183321"/>
          </a:xfrm>
        </p:spPr>
      </p:pic>
    </p:spTree>
    <p:extLst>
      <p:ext uri="{BB962C8B-B14F-4D97-AF65-F5344CB8AC3E}">
        <p14:creationId xmlns:p14="http://schemas.microsoft.com/office/powerpoint/2010/main" val="2729113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33CDB-257B-43B9-AF53-292000881D05}"/>
              </a:ext>
            </a:extLst>
          </p:cNvPr>
          <p:cNvSpPr>
            <a:spLocks noGrp="1"/>
          </p:cNvSpPr>
          <p:nvPr>
            <p:ph type="title"/>
          </p:nvPr>
        </p:nvSpPr>
        <p:spPr>
          <a:xfrm>
            <a:off x="677334" y="609600"/>
            <a:ext cx="8596668" cy="757084"/>
          </a:xfrm>
        </p:spPr>
        <p:txBody>
          <a:bodyPr/>
          <a:lstStyle/>
          <a:p>
            <a:r>
              <a:rPr lang="en-IN" dirty="0"/>
              <a:t>Objective-3:</a:t>
            </a:r>
          </a:p>
        </p:txBody>
      </p:sp>
      <p:sp>
        <p:nvSpPr>
          <p:cNvPr id="3" name="Content Placeholder 2">
            <a:extLst>
              <a:ext uri="{FF2B5EF4-FFF2-40B4-BE49-F238E27FC236}">
                <a16:creationId xmlns:a16="http://schemas.microsoft.com/office/drawing/2014/main" id="{69D79F6A-6E4E-3831-F76B-BCDED01403C6}"/>
              </a:ext>
            </a:extLst>
          </p:cNvPr>
          <p:cNvSpPr>
            <a:spLocks noGrp="1"/>
          </p:cNvSpPr>
          <p:nvPr>
            <p:ph idx="1"/>
          </p:nvPr>
        </p:nvSpPr>
        <p:spPr>
          <a:xfrm>
            <a:off x="677334" y="1588665"/>
            <a:ext cx="8596668" cy="4674678"/>
          </a:xfrm>
        </p:spPr>
        <p:txBody>
          <a:bodyPr>
            <a:normAutofit/>
          </a:bodyPr>
          <a:lstStyle/>
          <a:p>
            <a:pPr marL="0" indent="0">
              <a:buNone/>
            </a:pPr>
            <a:r>
              <a:rPr lang="en-US" dirty="0"/>
              <a:t>Integrated </a:t>
            </a:r>
            <a:r>
              <a:rPr lang="en-US" b="1" dirty="0"/>
              <a:t>Explainable AI (XAI)</a:t>
            </a:r>
            <a:r>
              <a:rPr lang="en-US" dirty="0"/>
              <a:t> techniques to interpret model predictions, ensuring transparency and trust in Alzheimer’s stage classification. Grad-CAM and saliency maps were employed to highlight critical brain regions influencing decisions. Additionally, a </a:t>
            </a:r>
            <a:r>
              <a:rPr lang="en-US" b="1" dirty="0"/>
              <a:t>Natural Language Explanation Module</a:t>
            </a:r>
            <a:r>
              <a:rPr lang="en-US" dirty="0"/>
              <a:t> was developed to generate clear, human-understandable summaries of model outputs, bridging the gap between complex AI reasoning and clinical interpretability.</a:t>
            </a:r>
          </a:p>
          <a:p>
            <a:pPr marL="0" indent="0">
              <a:buNone/>
            </a:pPr>
            <a:endParaRPr lang="en-IN" sz="1600" dirty="0"/>
          </a:p>
        </p:txBody>
      </p:sp>
      <p:pic>
        <p:nvPicPr>
          <p:cNvPr id="6" name="Picture 5">
            <a:extLst>
              <a:ext uri="{FF2B5EF4-FFF2-40B4-BE49-F238E27FC236}">
                <a16:creationId xmlns:a16="http://schemas.microsoft.com/office/drawing/2014/main" id="{EBE9B71D-5481-1B00-9F20-3BB9ADDD99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3429000"/>
            <a:ext cx="2964419" cy="3305064"/>
          </a:xfrm>
          <a:prstGeom prst="rect">
            <a:avLst/>
          </a:prstGeom>
        </p:spPr>
      </p:pic>
      <p:pic>
        <p:nvPicPr>
          <p:cNvPr id="9" name="Picture 8">
            <a:extLst>
              <a:ext uri="{FF2B5EF4-FFF2-40B4-BE49-F238E27FC236}">
                <a16:creationId xmlns:a16="http://schemas.microsoft.com/office/drawing/2014/main" id="{37ACEB7A-CE43-C739-F160-E443FF6038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6541" y="3339050"/>
            <a:ext cx="4149380" cy="3518950"/>
          </a:xfrm>
          <a:prstGeom prst="rect">
            <a:avLst/>
          </a:prstGeom>
        </p:spPr>
      </p:pic>
    </p:spTree>
    <p:extLst>
      <p:ext uri="{BB962C8B-B14F-4D97-AF65-F5344CB8AC3E}">
        <p14:creationId xmlns:p14="http://schemas.microsoft.com/office/powerpoint/2010/main" val="2156915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374AE-D30D-1DA7-4F58-7868F799F4E6}"/>
              </a:ext>
            </a:extLst>
          </p:cNvPr>
          <p:cNvSpPr>
            <a:spLocks noGrp="1"/>
          </p:cNvSpPr>
          <p:nvPr>
            <p:ph type="title"/>
          </p:nvPr>
        </p:nvSpPr>
        <p:spPr>
          <a:xfrm>
            <a:off x="677334" y="609600"/>
            <a:ext cx="8596668" cy="660400"/>
          </a:xfrm>
        </p:spPr>
        <p:txBody>
          <a:bodyPr/>
          <a:lstStyle/>
          <a:p>
            <a:r>
              <a:rPr lang="en-US" dirty="0"/>
              <a:t>Results:</a:t>
            </a:r>
            <a:endParaRPr lang="en-IN" dirty="0"/>
          </a:p>
        </p:txBody>
      </p:sp>
      <p:sp>
        <p:nvSpPr>
          <p:cNvPr id="3" name="Content Placeholder 2">
            <a:extLst>
              <a:ext uri="{FF2B5EF4-FFF2-40B4-BE49-F238E27FC236}">
                <a16:creationId xmlns:a16="http://schemas.microsoft.com/office/drawing/2014/main" id="{ADAA3FFF-E465-4CA7-80CC-C87101D8836C}"/>
              </a:ext>
            </a:extLst>
          </p:cNvPr>
          <p:cNvSpPr>
            <a:spLocks noGrp="1"/>
          </p:cNvSpPr>
          <p:nvPr>
            <p:ph idx="1"/>
          </p:nvPr>
        </p:nvSpPr>
        <p:spPr>
          <a:xfrm>
            <a:off x="677334" y="1346201"/>
            <a:ext cx="8596668" cy="4695162"/>
          </a:xfrm>
        </p:spPr>
        <p:txBody>
          <a:bodyPr>
            <a:normAutofit/>
          </a:bodyPr>
          <a:lstStyle/>
          <a:p>
            <a:r>
              <a:rPr lang="en-US" sz="1600" dirty="0"/>
              <a:t>Two deep learning architectures — </a:t>
            </a:r>
            <a:r>
              <a:rPr lang="en-US" sz="1600" b="1" dirty="0"/>
              <a:t>Custom CNN</a:t>
            </a:r>
            <a:r>
              <a:rPr lang="en-US" sz="1600" dirty="0"/>
              <a:t> and </a:t>
            </a:r>
            <a:r>
              <a:rPr lang="en-US" sz="1600" b="1" dirty="0"/>
              <a:t>VGG16 (transfer learning)</a:t>
            </a:r>
            <a:r>
              <a:rPr lang="en-US" sz="1600" dirty="0"/>
              <a:t> — were implemented and evaluated on the prepared </a:t>
            </a:r>
            <a:r>
              <a:rPr lang="en-US" sz="1600" b="1" dirty="0"/>
              <a:t>Alzheimer’s MRI dataset</a:t>
            </a:r>
            <a:r>
              <a:rPr lang="en-US" sz="1600" dirty="0"/>
              <a:t>.</a:t>
            </a:r>
            <a:br>
              <a:rPr lang="en-US" sz="1600" dirty="0"/>
            </a:br>
            <a:r>
              <a:rPr lang="en-US" sz="1600" dirty="0"/>
              <a:t>The dataset comprised four classes: </a:t>
            </a:r>
            <a:r>
              <a:rPr lang="en-US" sz="1600" b="1" dirty="0" err="1"/>
              <a:t>NonDemented</a:t>
            </a:r>
            <a:r>
              <a:rPr lang="en-US" sz="1600" dirty="0"/>
              <a:t>, </a:t>
            </a:r>
            <a:r>
              <a:rPr lang="en-US" sz="1600" b="1" dirty="0" err="1"/>
              <a:t>VeryMildDemented</a:t>
            </a:r>
            <a:r>
              <a:rPr lang="en-US" sz="1600" dirty="0"/>
              <a:t>, </a:t>
            </a:r>
            <a:r>
              <a:rPr lang="en-US" sz="1600" b="1" dirty="0" err="1"/>
              <a:t>MildDemented</a:t>
            </a:r>
            <a:r>
              <a:rPr lang="en-US" sz="1600" dirty="0"/>
              <a:t>, and </a:t>
            </a:r>
            <a:r>
              <a:rPr lang="en-US" sz="1600" b="1" dirty="0" err="1"/>
              <a:t>ModerateDemented</a:t>
            </a:r>
            <a:r>
              <a:rPr lang="en-US" sz="1600" dirty="0"/>
              <a:t>, representing progressive stages of Alzheimer’s disease in real-world clinical conditions.</a:t>
            </a:r>
          </a:p>
          <a:p>
            <a:r>
              <a:rPr lang="en-US" sz="1600" dirty="0"/>
              <a:t>The following are the </a:t>
            </a:r>
            <a:r>
              <a:rPr lang="en-US" sz="1600" b="1" dirty="0"/>
              <a:t>evaluation metrics and performance comparisons</a:t>
            </a:r>
            <a:r>
              <a:rPr lang="en-US" sz="1600" dirty="0"/>
              <a:t> for both models:</a:t>
            </a:r>
          </a:p>
          <a:p>
            <a:r>
              <a:rPr lang="en-US" sz="1600" dirty="0" err="1"/>
              <a:t>Custom_CNN</a:t>
            </a:r>
            <a:r>
              <a:rPr lang="en-US" sz="1600" dirty="0"/>
              <a:t>:</a:t>
            </a:r>
          </a:p>
          <a:p>
            <a:endParaRPr lang="en-US" sz="1600" dirty="0"/>
          </a:p>
          <a:p>
            <a:endParaRPr lang="en-US" sz="1600" dirty="0"/>
          </a:p>
          <a:p>
            <a:endParaRPr lang="en-US" sz="1600" dirty="0"/>
          </a:p>
          <a:p>
            <a:r>
              <a:rPr lang="en-US" sz="1600" dirty="0"/>
              <a:t>VGG16:</a:t>
            </a:r>
          </a:p>
          <a:p>
            <a:endParaRPr lang="en-US" sz="1600" dirty="0"/>
          </a:p>
          <a:p>
            <a:endParaRPr lang="en-US" sz="1600" dirty="0"/>
          </a:p>
        </p:txBody>
      </p:sp>
      <p:pic>
        <p:nvPicPr>
          <p:cNvPr id="6" name="Picture 5">
            <a:extLst>
              <a:ext uri="{FF2B5EF4-FFF2-40B4-BE49-F238E27FC236}">
                <a16:creationId xmlns:a16="http://schemas.microsoft.com/office/drawing/2014/main" id="{0E7087E1-EE3D-C2E2-B3D6-89E20AFC7BBD}"/>
              </a:ext>
            </a:extLst>
          </p:cNvPr>
          <p:cNvPicPr>
            <a:picLocks noChangeAspect="1"/>
          </p:cNvPicPr>
          <p:nvPr/>
        </p:nvPicPr>
        <p:blipFill>
          <a:blip r:embed="rId2"/>
          <a:stretch>
            <a:fillRect/>
          </a:stretch>
        </p:blipFill>
        <p:spPr>
          <a:xfrm>
            <a:off x="1399390" y="3693782"/>
            <a:ext cx="5130117" cy="876422"/>
          </a:xfrm>
          <a:prstGeom prst="rect">
            <a:avLst/>
          </a:prstGeom>
        </p:spPr>
      </p:pic>
      <p:pic>
        <p:nvPicPr>
          <p:cNvPr id="8" name="Picture 7">
            <a:extLst>
              <a:ext uri="{FF2B5EF4-FFF2-40B4-BE49-F238E27FC236}">
                <a16:creationId xmlns:a16="http://schemas.microsoft.com/office/drawing/2014/main" id="{76751A59-5E3B-3160-83DA-D51812F2A445}"/>
              </a:ext>
            </a:extLst>
          </p:cNvPr>
          <p:cNvPicPr>
            <a:picLocks noChangeAspect="1"/>
          </p:cNvPicPr>
          <p:nvPr/>
        </p:nvPicPr>
        <p:blipFill>
          <a:blip r:embed="rId3"/>
          <a:stretch>
            <a:fillRect/>
          </a:stretch>
        </p:blipFill>
        <p:spPr>
          <a:xfrm>
            <a:off x="1111942" y="5473884"/>
            <a:ext cx="5858693" cy="905001"/>
          </a:xfrm>
          <a:prstGeom prst="rect">
            <a:avLst/>
          </a:prstGeom>
        </p:spPr>
      </p:pic>
    </p:spTree>
    <p:extLst>
      <p:ext uri="{BB962C8B-B14F-4D97-AF65-F5344CB8AC3E}">
        <p14:creationId xmlns:p14="http://schemas.microsoft.com/office/powerpoint/2010/main" val="2181958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B84F2C-8872-CE83-53A3-D632B3700FE8}"/>
              </a:ext>
            </a:extLst>
          </p:cNvPr>
          <p:cNvSpPr>
            <a:spLocks noGrp="1"/>
          </p:cNvSpPr>
          <p:nvPr>
            <p:ph idx="1"/>
          </p:nvPr>
        </p:nvSpPr>
        <p:spPr>
          <a:xfrm>
            <a:off x="677334" y="702733"/>
            <a:ext cx="8596668" cy="5338629"/>
          </a:xfrm>
        </p:spPr>
        <p:txBody>
          <a:bodyPr>
            <a:normAutofit/>
          </a:bodyPr>
          <a:lstStyle/>
          <a:p>
            <a:pPr marL="0" indent="0">
              <a:buNone/>
            </a:pPr>
            <a:r>
              <a:rPr lang="en-US" b="1" dirty="0"/>
              <a:t>Key Observations</a:t>
            </a:r>
          </a:p>
          <a:p>
            <a:pPr lvl="1"/>
            <a:r>
              <a:rPr lang="en-US" dirty="0"/>
              <a:t>The </a:t>
            </a:r>
            <a:r>
              <a:rPr lang="en-US" b="1" dirty="0"/>
              <a:t>Custom CNN</a:t>
            </a:r>
            <a:r>
              <a:rPr lang="en-US" dirty="0"/>
              <a:t> slightly outperformed </a:t>
            </a:r>
            <a:r>
              <a:rPr lang="en-US" b="1" dirty="0"/>
              <a:t>VGG16</a:t>
            </a:r>
            <a:r>
              <a:rPr lang="en-US" dirty="0"/>
              <a:t>, achieving higher test accuracy and lower loss due to its optimized architecture and task-specific design.</a:t>
            </a:r>
          </a:p>
          <a:p>
            <a:pPr lvl="1"/>
            <a:r>
              <a:rPr lang="en-US" dirty="0"/>
              <a:t>Both models demonstrated </a:t>
            </a:r>
            <a:r>
              <a:rPr lang="en-US" b="1" dirty="0"/>
              <a:t>strong classification performance</a:t>
            </a:r>
            <a:r>
              <a:rPr lang="en-US" dirty="0"/>
              <a:t>, successfully distinguishing subtle structural variations across Alzheimer’s stages.</a:t>
            </a:r>
          </a:p>
          <a:p>
            <a:pPr lvl="1"/>
            <a:r>
              <a:rPr lang="en-US" b="1" dirty="0"/>
              <a:t>Data augmentation</a:t>
            </a:r>
            <a:r>
              <a:rPr lang="en-US" dirty="0"/>
              <a:t> significantly improved model generalization and mitigated overfitting, particularly for underrepresented classes like </a:t>
            </a:r>
            <a:r>
              <a:rPr lang="en-US" i="1" dirty="0" err="1"/>
              <a:t>ModerateDemented</a:t>
            </a:r>
            <a:r>
              <a:rPr lang="en-US" i="1" dirty="0"/>
              <a:t>.</a:t>
            </a:r>
            <a:endParaRPr lang="en-US" dirty="0"/>
          </a:p>
          <a:p>
            <a:pPr lvl="1"/>
            <a:r>
              <a:rPr lang="en-US" dirty="0"/>
              <a:t>The </a:t>
            </a:r>
            <a:r>
              <a:rPr lang="en-US" b="1" dirty="0"/>
              <a:t>VGG16 model</a:t>
            </a:r>
            <a:r>
              <a:rPr lang="en-US" dirty="0"/>
              <a:t>, though slightly lower in accuracy, provided stable convergence and faster training through transfer learning with pre-trained ImageNet features.</a:t>
            </a:r>
          </a:p>
          <a:p>
            <a:pPr marL="0" indent="0">
              <a:buNone/>
            </a:pPr>
            <a:r>
              <a:rPr lang="en-US" b="1" dirty="0"/>
              <a:t>Performance Visualization</a:t>
            </a:r>
          </a:p>
          <a:p>
            <a:pPr lvl="1"/>
            <a:r>
              <a:rPr lang="en-US" b="1" dirty="0"/>
              <a:t>  Accuracy and loss curves</a:t>
            </a:r>
            <a:r>
              <a:rPr lang="en-US" dirty="0"/>
              <a:t> displayed smooth and stable convergence during training, indicating balanced learning with minimal overfitting.</a:t>
            </a:r>
          </a:p>
          <a:p>
            <a:pPr lvl="1"/>
            <a:r>
              <a:rPr lang="en-US" b="1" dirty="0"/>
              <a:t>Confusion matrices</a:t>
            </a:r>
            <a:r>
              <a:rPr lang="en-US" dirty="0"/>
              <a:t> revealed high true-positive rates across all four classes, with near-perfect classification for </a:t>
            </a:r>
            <a:r>
              <a:rPr lang="en-US" i="1" dirty="0" err="1"/>
              <a:t>ModerateDemented</a:t>
            </a:r>
            <a:r>
              <a:rPr lang="en-US" dirty="0"/>
              <a:t> cases.</a:t>
            </a:r>
          </a:p>
          <a:p>
            <a:pPr lvl="1"/>
            <a:r>
              <a:rPr lang="en-US" b="1" dirty="0"/>
              <a:t>Comparison plots</a:t>
            </a:r>
            <a:r>
              <a:rPr lang="en-US" dirty="0"/>
              <a:t> illustrated that the Custom CNN achieved higher precision and recall across all stages, validating its superior feature extraction and decision consistency.</a:t>
            </a:r>
          </a:p>
          <a:p>
            <a:pPr marL="0" indent="0">
              <a:buNone/>
            </a:pPr>
            <a:endParaRPr lang="en-US" sz="1600" dirty="0"/>
          </a:p>
          <a:p>
            <a:endParaRPr lang="en-IN" dirty="0"/>
          </a:p>
        </p:txBody>
      </p:sp>
    </p:spTree>
    <p:extLst>
      <p:ext uri="{BB962C8B-B14F-4D97-AF65-F5344CB8AC3E}">
        <p14:creationId xmlns:p14="http://schemas.microsoft.com/office/powerpoint/2010/main" val="1621615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B1880-4041-01A3-52C8-47269C4AAD97}"/>
              </a:ext>
            </a:extLst>
          </p:cNvPr>
          <p:cNvSpPr>
            <a:spLocks noGrp="1"/>
          </p:cNvSpPr>
          <p:nvPr>
            <p:ph type="title"/>
          </p:nvPr>
        </p:nvSpPr>
        <p:spPr>
          <a:xfrm>
            <a:off x="677334" y="609600"/>
            <a:ext cx="8596668" cy="635000"/>
          </a:xfrm>
        </p:spPr>
        <p:txBody>
          <a:bodyPr>
            <a:normAutofit fontScale="90000"/>
          </a:bodyPr>
          <a:lstStyle/>
          <a:p>
            <a:r>
              <a:rPr lang="en-US" dirty="0"/>
              <a:t>Conclusion:</a:t>
            </a:r>
            <a:endParaRPr lang="en-IN" dirty="0"/>
          </a:p>
        </p:txBody>
      </p:sp>
      <p:sp>
        <p:nvSpPr>
          <p:cNvPr id="3" name="Content Placeholder 2">
            <a:extLst>
              <a:ext uri="{FF2B5EF4-FFF2-40B4-BE49-F238E27FC236}">
                <a16:creationId xmlns:a16="http://schemas.microsoft.com/office/drawing/2014/main" id="{67717B5A-45F5-66CC-463A-0953F769C666}"/>
              </a:ext>
            </a:extLst>
          </p:cNvPr>
          <p:cNvSpPr>
            <a:spLocks noGrp="1"/>
          </p:cNvSpPr>
          <p:nvPr>
            <p:ph idx="1"/>
          </p:nvPr>
        </p:nvSpPr>
        <p:spPr>
          <a:xfrm>
            <a:off x="677334" y="1329267"/>
            <a:ext cx="8596668" cy="4712095"/>
          </a:xfrm>
        </p:spPr>
        <p:txBody>
          <a:bodyPr>
            <a:normAutofit fontScale="77500" lnSpcReduction="20000"/>
          </a:bodyPr>
          <a:lstStyle/>
          <a:p>
            <a:pPr algn="just">
              <a:lnSpc>
                <a:spcPct val="150000"/>
              </a:lnSpc>
            </a:pPr>
            <a:r>
              <a:rPr lang="en-US" sz="2000" dirty="0"/>
              <a:t>This project developed an AI-based system using deep learning and explainable AI to automatically classify Alzheimer’s disease stages from MRI brain scans. By implementing both Custom CNN and VGG16 transfer learning models, the system achieved high accuracy, reliability, and interpretability in differentiating between </a:t>
            </a:r>
            <a:r>
              <a:rPr lang="en-US" sz="2000" i="1" dirty="0" err="1"/>
              <a:t>NonDemented</a:t>
            </a:r>
            <a:r>
              <a:rPr lang="en-US" sz="2000" dirty="0"/>
              <a:t>, </a:t>
            </a:r>
            <a:r>
              <a:rPr lang="en-US" sz="2000" i="1" dirty="0" err="1"/>
              <a:t>VeryMildDemented</a:t>
            </a:r>
            <a:r>
              <a:rPr lang="en-US" sz="2000" dirty="0"/>
              <a:t>, </a:t>
            </a:r>
            <a:r>
              <a:rPr lang="en-US" sz="2000" i="1" dirty="0" err="1"/>
              <a:t>MildDemented</a:t>
            </a:r>
            <a:r>
              <a:rPr lang="en-US" sz="2000" dirty="0"/>
              <a:t>, and </a:t>
            </a:r>
            <a:r>
              <a:rPr lang="en-US" sz="2000" i="1" dirty="0" err="1"/>
              <a:t>ModerateDemented</a:t>
            </a:r>
            <a:r>
              <a:rPr lang="en-US" sz="2000" dirty="0"/>
              <a:t> stages.</a:t>
            </a:r>
            <a:br>
              <a:rPr lang="en-US" sz="2000" dirty="0"/>
            </a:br>
            <a:r>
              <a:rPr lang="en-US" sz="2000" dirty="0"/>
              <a:t>The Custom CNN demonstrated superior performance with better generalization and lower test loss, while VGG16 provided stable convergence and transfer learning advantages.</a:t>
            </a:r>
            <a:br>
              <a:rPr lang="en-US" sz="2000" dirty="0"/>
            </a:br>
            <a:r>
              <a:rPr lang="en-US" sz="2000" dirty="0"/>
              <a:t>Integrated Grad-CAM visualizations and natural language explanations enhanced transparency, enabling clinicians to understand model decisions.</a:t>
            </a:r>
            <a:br>
              <a:rPr lang="en-US" sz="2000" dirty="0"/>
            </a:br>
            <a:r>
              <a:rPr lang="en-US" sz="2000" dirty="0"/>
              <a:t>Overall, the system reduces diagnostic effort, improves consistency in analysis, and establishes a foundation for AI-assisted, explainable, and scalable Alzheimer’s disease screening in healthcare and research.</a:t>
            </a:r>
            <a:endParaRPr lang="en-IN" sz="2000" dirty="0"/>
          </a:p>
        </p:txBody>
      </p:sp>
    </p:spTree>
    <p:extLst>
      <p:ext uri="{BB962C8B-B14F-4D97-AF65-F5344CB8AC3E}">
        <p14:creationId xmlns:p14="http://schemas.microsoft.com/office/powerpoint/2010/main" val="416370629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490</TotalTime>
  <Words>1754</Words>
  <Application>Microsoft Office PowerPoint</Application>
  <PresentationFormat>Widescreen</PresentationFormat>
  <Paragraphs>136</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Trebuchet MS</vt:lpstr>
      <vt:lpstr>Wingdings 3</vt:lpstr>
      <vt:lpstr>Facet</vt:lpstr>
      <vt:lpstr>Alzheimer’s Disease Classification Using Deep Learning, Integrating with Explainable AI, and LLM </vt:lpstr>
      <vt:lpstr>Contents:</vt:lpstr>
      <vt:lpstr>Introduction</vt:lpstr>
      <vt:lpstr>Motivation</vt:lpstr>
      <vt:lpstr>Literature Survey</vt:lpstr>
      <vt:lpstr>PowerPoint Presentation</vt:lpstr>
      <vt:lpstr>Gaps Identified:</vt:lpstr>
      <vt:lpstr>Problem Statement:</vt:lpstr>
      <vt:lpstr>Objectives:</vt:lpstr>
      <vt:lpstr>PowerPoint Presentation</vt:lpstr>
      <vt:lpstr>Proposed Solution:</vt:lpstr>
      <vt:lpstr>Proposed Solution:</vt:lpstr>
      <vt:lpstr>Objective-1:</vt:lpstr>
      <vt:lpstr>Objective-2:</vt:lpstr>
      <vt:lpstr>PowerPoint Presentation</vt:lpstr>
      <vt:lpstr>Compared Analysis:</vt:lpstr>
      <vt:lpstr>Objective-3:</vt:lpstr>
      <vt:lpstr>Results:</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Sreeya Darisi</dc:creator>
  <cp:lastModifiedBy>Amrutha Varshini Manam</cp:lastModifiedBy>
  <cp:revision>15</cp:revision>
  <dcterms:created xsi:type="dcterms:W3CDTF">2025-11-05T03:58:07Z</dcterms:created>
  <dcterms:modified xsi:type="dcterms:W3CDTF">2025-11-08T21:10:55Z</dcterms:modified>
</cp:coreProperties>
</file>